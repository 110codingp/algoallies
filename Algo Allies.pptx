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Roboto"/>
      <p:regular r:id="rId32"/>
      <p:bold r:id="rId33"/>
      <p:italic r:id="rId34"/>
      <p:boldItalic r:id="rId35"/>
    </p:embeddedFont>
    <p:embeddedFont>
      <p:font typeface="Nunit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bold.fntdata"/><Relationship Id="rId10" Type="http://schemas.openxmlformats.org/officeDocument/2006/relationships/slide" Target="slides/slide5.xml"/><Relationship Id="rId32" Type="http://schemas.openxmlformats.org/officeDocument/2006/relationships/font" Target="fonts/Roboto-regular.fntdata"/><Relationship Id="rId13" Type="http://schemas.openxmlformats.org/officeDocument/2006/relationships/slide" Target="slides/slide8.xml"/><Relationship Id="rId35" Type="http://schemas.openxmlformats.org/officeDocument/2006/relationships/font" Target="fonts/Roboto-boldItalic.fntdata"/><Relationship Id="rId12" Type="http://schemas.openxmlformats.org/officeDocument/2006/relationships/slide" Target="slides/slide7.xml"/><Relationship Id="rId34" Type="http://schemas.openxmlformats.org/officeDocument/2006/relationships/font" Target="fonts/Roboto-italic.fntdata"/><Relationship Id="rId15" Type="http://schemas.openxmlformats.org/officeDocument/2006/relationships/slide" Target="slides/slide10.xml"/><Relationship Id="rId37" Type="http://schemas.openxmlformats.org/officeDocument/2006/relationships/font" Target="fonts/Nunito-bold.fntdata"/><Relationship Id="rId14" Type="http://schemas.openxmlformats.org/officeDocument/2006/relationships/slide" Target="slides/slide9.xml"/><Relationship Id="rId36" Type="http://schemas.openxmlformats.org/officeDocument/2006/relationships/font" Target="fonts/Nunito-regular.fntdata"/><Relationship Id="rId17" Type="http://schemas.openxmlformats.org/officeDocument/2006/relationships/slide" Target="slides/slide12.xml"/><Relationship Id="rId39" Type="http://schemas.openxmlformats.org/officeDocument/2006/relationships/font" Target="fonts/Nunito-boldItalic.fntdata"/><Relationship Id="rId16" Type="http://schemas.openxmlformats.org/officeDocument/2006/relationships/slide" Target="slides/slide11.xml"/><Relationship Id="rId38" Type="http://schemas.openxmlformats.org/officeDocument/2006/relationships/font" Target="fonts/Nuni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55381af4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55381af4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55381af41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55381af41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55381af419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55381af419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2af754b2c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2af754b2c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2af754b2c1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2af754b2c1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2af754b2c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2af754b2c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2af754b2c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2af754b2c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2af754b2c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2af754b2c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2b06848905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2b06848905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2b06848905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2b06848905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2b06848905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2b06848905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2b06848905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2b06848905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2b06848905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2b06848905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2b06848905_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2b06848905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2b06848905_3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2b06848905_3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55381af419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55381af419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5547c73c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5547c73c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5547c73c6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5547c73c6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5547c73c6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5547c73c6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5547c73c6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5547c73c6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5547c73c6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5547c73c6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2b156af8c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2b156af8c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2b156af8cf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2b156af8cf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2b156af8cf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2b156af8cf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2b156af8cf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2b156af8cf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codeforces.com/contestInvitation/2546dfdada8bd9448bf837da2cbaa0d133049803" TargetMode="External"/><Relationship Id="rId4" Type="http://schemas.openxmlformats.org/officeDocument/2006/relationships/hyperlink" Target="https://codeforces.com/contestInvitation/be3a7e110d97d27bebc6a28b5cd05b7832d9c894" TargetMode="External"/><Relationship Id="rId5" Type="http://schemas.openxmlformats.org/officeDocument/2006/relationships/hyperlink" Target="https://codeforces.com/contestInvitation/4a43f065ec1d645d1e60ab855b12b7fe1a47c55b"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drive.google.com/drive/folders/1qo05kgUnikQ1jBeSgVGkR__80wanNb7H?usp=sharing" TargetMode="External"/><Relationship Id="rId4" Type="http://schemas.openxmlformats.org/officeDocument/2006/relationships/hyperlink" Target="https://discord.com/channels/1104019359577428050/1120791963059363920/1121059672263245914" TargetMode="External"/><Relationship Id="rId5" Type="http://schemas.openxmlformats.org/officeDocument/2006/relationships/hyperlink" Target="https://discord.com/channels/1104019359577428050/1120792034970714245/1121059692962128026" TargetMode="External"/><Relationship Id="rId6" Type="http://schemas.openxmlformats.org/officeDocument/2006/relationships/hyperlink" Target="https://discord.com/channels/1104019359577428050/1120792034970714245/1121059692962128026"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discord.com/channels/1104019359577428050/1120792097285480528/1121059713262551091" TargetMode="External"/><Relationship Id="rId4" Type="http://schemas.openxmlformats.org/officeDocument/2006/relationships/hyperlink" Target="https://discord.com/channels/1104019359577428050/1120792134874828820/1121059743012749392" TargetMode="External"/><Relationship Id="rId5" Type="http://schemas.openxmlformats.org/officeDocument/2006/relationships/hyperlink" Target="https://discord.com/channels/1104019359577428050/1120792205762760744/1121059760268132352" TargetMode="External"/><Relationship Id="rId6" Type="http://schemas.openxmlformats.org/officeDocument/2006/relationships/hyperlink" Target="https://discord.com/channels/1104019359577428050/1120792252520861696/1121059787313000529"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Algo Allies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Project report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STANDARD TEMPLATE LIBRARY</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47500" lnSpcReduction="10000"/>
          </a:bodyPr>
          <a:lstStyle/>
          <a:p>
            <a:pPr indent="0" lvl="0" marL="0" rtl="0" algn="l">
              <a:spcBef>
                <a:spcPts val="0"/>
              </a:spcBef>
              <a:spcAft>
                <a:spcPts val="0"/>
              </a:spcAft>
              <a:buNone/>
            </a:pPr>
            <a:r>
              <a:rPr lang="en-GB" sz="2900"/>
              <a:t>Templates in C++: </a:t>
            </a:r>
            <a:r>
              <a:rPr lang="en-GB" sz="2900">
                <a:latin typeface="Roboto"/>
                <a:ea typeface="Roboto"/>
                <a:cs typeface="Roboto"/>
                <a:sym typeface="Roboto"/>
              </a:rPr>
              <a:t>Templates allow you to write generic code that can be reused with different data types. They are expanded at compile time, which means that the compiler generates code specific to the data types used with the template.</a:t>
            </a:r>
            <a:endParaRPr sz="2900">
              <a:latin typeface="Roboto"/>
              <a:ea typeface="Roboto"/>
              <a:cs typeface="Roboto"/>
              <a:sym typeface="Roboto"/>
            </a:endParaRPr>
          </a:p>
          <a:p>
            <a:pPr indent="0" lvl="0" marL="0" rtl="0" algn="l">
              <a:spcBef>
                <a:spcPts val="1200"/>
              </a:spcBef>
              <a:spcAft>
                <a:spcPts val="0"/>
              </a:spcAft>
              <a:buNone/>
            </a:pPr>
            <a:r>
              <a:rPr lang="en-GB" sz="2900"/>
              <a:t>STL in C++: it is a collection of template classes which provide common data structures, </a:t>
            </a:r>
            <a:r>
              <a:rPr lang="en-GB" sz="2900"/>
              <a:t>a range of containers such as lists, vectors. It also provides f</a:t>
            </a:r>
            <a:r>
              <a:rPr lang="en-GB" sz="2900"/>
              <a:t>unctions and optimized algorithms like sorting, searching etc. w</a:t>
            </a:r>
            <a:r>
              <a:rPr lang="en-GB" sz="2900">
                <a:latin typeface="Nunito"/>
                <a:ea typeface="Nunito"/>
                <a:cs typeface="Nunito"/>
                <a:sym typeface="Nunito"/>
              </a:rPr>
              <a:t>hich can result in faster execution times compared to custom code.</a:t>
            </a:r>
            <a:endParaRPr sz="2900">
              <a:latin typeface="Nunito"/>
              <a:ea typeface="Nunito"/>
              <a:cs typeface="Nunito"/>
              <a:sym typeface="Nunito"/>
            </a:endParaRPr>
          </a:p>
          <a:p>
            <a:pPr indent="0" lvl="0" marL="0" rtl="0" algn="l">
              <a:spcBef>
                <a:spcPts val="1200"/>
              </a:spcBef>
              <a:spcAft>
                <a:spcPts val="0"/>
              </a:spcAft>
              <a:buNone/>
            </a:pPr>
            <a:r>
              <a:rPr lang="en-GB" sz="2900"/>
              <a:t>Key components of STL:</a:t>
            </a:r>
            <a:endParaRPr sz="2900"/>
          </a:p>
          <a:p>
            <a:pPr indent="-316071" lvl="0" marL="457200" rtl="0" algn="l">
              <a:spcBef>
                <a:spcPts val="1200"/>
              </a:spcBef>
              <a:spcAft>
                <a:spcPts val="0"/>
              </a:spcAft>
              <a:buSzPct val="100000"/>
              <a:buChar char="●"/>
            </a:pPr>
            <a:r>
              <a:rPr lang="en-GB" sz="2900"/>
              <a:t>Algorithm</a:t>
            </a:r>
            <a:endParaRPr sz="2900"/>
          </a:p>
          <a:p>
            <a:pPr indent="-316071" lvl="0" marL="457200" rtl="0" algn="l">
              <a:spcBef>
                <a:spcPts val="0"/>
              </a:spcBef>
              <a:spcAft>
                <a:spcPts val="0"/>
              </a:spcAft>
              <a:buSzPct val="100000"/>
              <a:buChar char="●"/>
            </a:pPr>
            <a:r>
              <a:rPr lang="en-GB" sz="2900"/>
              <a:t>Containers</a:t>
            </a:r>
            <a:endParaRPr sz="2900"/>
          </a:p>
          <a:p>
            <a:pPr indent="-316071" lvl="0" marL="457200" rtl="0" algn="l">
              <a:spcBef>
                <a:spcPts val="0"/>
              </a:spcBef>
              <a:spcAft>
                <a:spcPts val="0"/>
              </a:spcAft>
              <a:buSzPct val="100000"/>
              <a:buChar char="●"/>
            </a:pPr>
            <a:r>
              <a:rPr lang="en-GB" sz="2900"/>
              <a:t>Functors</a:t>
            </a:r>
            <a:endParaRPr sz="2900"/>
          </a:p>
          <a:p>
            <a:pPr indent="-316071" lvl="0" marL="457200" rtl="0" algn="l">
              <a:spcBef>
                <a:spcPts val="0"/>
              </a:spcBef>
              <a:spcAft>
                <a:spcPts val="0"/>
              </a:spcAft>
              <a:buSzPct val="100000"/>
              <a:buChar char="●"/>
            </a:pPr>
            <a:r>
              <a:rPr lang="en-GB" sz="2900"/>
              <a:t>Itorators</a:t>
            </a:r>
            <a:endParaRPr sz="2900"/>
          </a:p>
          <a:p>
            <a:pPr indent="0" lvl="0" marL="0" rtl="0" algn="l">
              <a:spcBef>
                <a:spcPts val="1200"/>
              </a:spcBef>
              <a:spcAft>
                <a:spcPts val="1200"/>
              </a:spcAft>
              <a:buNone/>
            </a:pPr>
            <a:r>
              <a:t/>
            </a:r>
            <a:endParaRPr sz="1400">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ALGORITHMS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GB" sz="5600">
                <a:solidFill>
                  <a:srgbClr val="D1D5DB"/>
                </a:solidFill>
                <a:latin typeface="Roboto"/>
                <a:ea typeface="Roboto"/>
                <a:cs typeface="Roboto"/>
                <a:sym typeface="Roboto"/>
              </a:rPr>
              <a:t>Algorithms refer to a set of generic functions that operate on containers and manipulate their elements. They include common operations of modifying, and analyzing data within containers.</a:t>
            </a:r>
            <a:endParaRPr sz="5600">
              <a:solidFill>
                <a:srgbClr val="D1D5DB"/>
              </a:solidFill>
              <a:latin typeface="Roboto"/>
              <a:ea typeface="Roboto"/>
              <a:cs typeface="Roboto"/>
              <a:sym typeface="Roboto"/>
            </a:endParaRPr>
          </a:p>
          <a:p>
            <a:pPr indent="0" lvl="0" marL="0" rtl="0" algn="l">
              <a:spcBef>
                <a:spcPts val="1200"/>
              </a:spcBef>
              <a:spcAft>
                <a:spcPts val="0"/>
              </a:spcAft>
              <a:buNone/>
            </a:pPr>
            <a:r>
              <a:rPr lang="en-GB" sz="5600">
                <a:solidFill>
                  <a:srgbClr val="D1D5DB"/>
                </a:solidFill>
                <a:latin typeface="Roboto"/>
                <a:ea typeface="Roboto"/>
                <a:cs typeface="Roboto"/>
                <a:sym typeface="Roboto"/>
              </a:rPr>
              <a:t>Header file: #include &lt;algorithm&gt;</a:t>
            </a:r>
            <a:endParaRPr sz="5600">
              <a:solidFill>
                <a:srgbClr val="D1D5DB"/>
              </a:solidFill>
              <a:latin typeface="Roboto"/>
              <a:ea typeface="Roboto"/>
              <a:cs typeface="Roboto"/>
              <a:sym typeface="Roboto"/>
            </a:endParaRPr>
          </a:p>
          <a:p>
            <a:pPr indent="0" lvl="0" marL="0" rtl="0" algn="l">
              <a:spcBef>
                <a:spcPts val="1200"/>
              </a:spcBef>
              <a:spcAft>
                <a:spcPts val="0"/>
              </a:spcAft>
              <a:buNone/>
            </a:pPr>
            <a:r>
              <a:rPr lang="en-GB" sz="6600"/>
              <a:t>Some of the algorithms in STL are:</a:t>
            </a:r>
            <a:endParaRPr sz="6600"/>
          </a:p>
          <a:p>
            <a:pPr indent="-317494" lvl="0" marL="457200" rtl="0" algn="l">
              <a:lnSpc>
                <a:spcPct val="158000"/>
              </a:lnSpc>
              <a:spcBef>
                <a:spcPts val="1200"/>
              </a:spcBef>
              <a:spcAft>
                <a:spcPts val="0"/>
              </a:spcAft>
              <a:buClr>
                <a:srgbClr val="FFFFFF"/>
              </a:buClr>
              <a:buSzPct val="100000"/>
              <a:buFont typeface="Nunito"/>
              <a:buChar char="●"/>
            </a:pPr>
            <a:r>
              <a:rPr lang="en-GB" sz="5599" u="sng">
                <a:solidFill>
                  <a:srgbClr val="FFFFFF"/>
                </a:solidFill>
              </a:rPr>
              <a:t>sort(first_iterator, last_iterator) </a:t>
            </a:r>
            <a:r>
              <a:rPr lang="en-GB" sz="5599">
                <a:solidFill>
                  <a:srgbClr val="FFFFFF"/>
                </a:solidFill>
              </a:rPr>
              <a:t>– To sort the given vector. It sorts the given vector in ascending order.</a:t>
            </a:r>
            <a:endParaRPr sz="5599">
              <a:solidFill>
                <a:srgbClr val="FFFFFF"/>
              </a:solidFill>
            </a:endParaRPr>
          </a:p>
          <a:p>
            <a:pPr indent="-317494" lvl="0" marL="457200" rtl="0" algn="l">
              <a:lnSpc>
                <a:spcPct val="158000"/>
              </a:lnSpc>
              <a:spcBef>
                <a:spcPts val="0"/>
              </a:spcBef>
              <a:spcAft>
                <a:spcPts val="0"/>
              </a:spcAft>
              <a:buClr>
                <a:srgbClr val="FFFFFF"/>
              </a:buClr>
              <a:buSzPct val="100000"/>
              <a:buFont typeface="Nunito"/>
              <a:buChar char="●"/>
            </a:pPr>
            <a:r>
              <a:rPr lang="en-GB" sz="5599" u="sng">
                <a:solidFill>
                  <a:srgbClr val="FFFFFF"/>
                </a:solidFill>
              </a:rPr>
              <a:t>reverse(first_iterator, last_iterator)</a:t>
            </a:r>
            <a:r>
              <a:rPr lang="en-GB" sz="5599">
                <a:solidFill>
                  <a:srgbClr val="FFFFFF"/>
                </a:solidFill>
              </a:rPr>
              <a:t> – To reverse a vector. ( if ascending -&gt; descending  OR  if descending -&gt; ascending)</a:t>
            </a:r>
            <a:endParaRPr sz="5599">
              <a:solidFill>
                <a:srgbClr val="FFFFFF"/>
              </a:solidFill>
            </a:endParaRPr>
          </a:p>
          <a:p>
            <a:pPr indent="-317494" lvl="0" marL="457200" rtl="0" algn="l">
              <a:lnSpc>
                <a:spcPct val="158000"/>
              </a:lnSpc>
              <a:spcBef>
                <a:spcPts val="0"/>
              </a:spcBef>
              <a:spcAft>
                <a:spcPts val="0"/>
              </a:spcAft>
              <a:buClr>
                <a:srgbClr val="FFFFFF"/>
              </a:buClr>
              <a:buSzPct val="100000"/>
              <a:buFont typeface="Nunito"/>
              <a:buChar char="●"/>
            </a:pPr>
            <a:r>
              <a:rPr lang="en-GB" sz="5599" u="sng">
                <a:solidFill>
                  <a:srgbClr val="FFFFFF"/>
                </a:solidFill>
              </a:rPr>
              <a:t>accumulate(first_iterator, last_iterator, initial value of sum)</a:t>
            </a:r>
            <a:r>
              <a:rPr lang="en-GB" sz="5599">
                <a:solidFill>
                  <a:srgbClr val="FFFFFF"/>
                </a:solidFill>
              </a:rPr>
              <a:t> –Does the summation of vector elements</a:t>
            </a:r>
            <a:endParaRPr sz="5599">
              <a:solidFill>
                <a:srgbClr val="FFFFFF"/>
              </a:solidFill>
            </a:endParaRPr>
          </a:p>
          <a:p>
            <a:pPr indent="-317494" lvl="0" marL="457200" rtl="0" algn="l">
              <a:lnSpc>
                <a:spcPct val="158000"/>
              </a:lnSpc>
              <a:spcBef>
                <a:spcPts val="0"/>
              </a:spcBef>
              <a:spcAft>
                <a:spcPts val="0"/>
              </a:spcAft>
              <a:buClr>
                <a:srgbClr val="FFFFFF"/>
              </a:buClr>
              <a:buSzPct val="100000"/>
              <a:buChar char="●"/>
            </a:pPr>
            <a:r>
              <a:rPr lang="en-GB" sz="5599" u="sng">
                <a:solidFill>
                  <a:srgbClr val="FFFFFF"/>
                </a:solidFill>
              </a:rPr>
              <a:t>binary_search(first_iterator,last_iterator,x) </a:t>
            </a:r>
            <a:r>
              <a:rPr lang="en-GB" sz="5599">
                <a:solidFill>
                  <a:srgbClr val="FFFFFF"/>
                </a:solidFill>
              </a:rPr>
              <a:t>– </a:t>
            </a:r>
            <a:r>
              <a:rPr lang="en-GB" sz="5599">
                <a:solidFill>
                  <a:srgbClr val="FFFFFF"/>
                </a:solidFill>
                <a:latin typeface="Nunito"/>
                <a:ea typeface="Nunito"/>
                <a:cs typeface="Nunito"/>
                <a:sym typeface="Nunito"/>
              </a:rPr>
              <a:t>Tests whether x exists in sorted vector or not.</a:t>
            </a:r>
            <a:endParaRPr sz="5599">
              <a:solidFill>
                <a:srgbClr val="FFFFFF"/>
              </a:solidFill>
              <a:latin typeface="Nunito"/>
              <a:ea typeface="Nunito"/>
              <a:cs typeface="Nunito"/>
              <a:sym typeface="Nunito"/>
            </a:endParaRPr>
          </a:p>
          <a:p>
            <a:pPr indent="0" lvl="0" marL="457200" rtl="0" algn="l">
              <a:lnSpc>
                <a:spcPct val="158000"/>
              </a:lnSpc>
              <a:spcBef>
                <a:spcPts val="1800"/>
              </a:spcBef>
              <a:spcAft>
                <a:spcPts val="1800"/>
              </a:spcAft>
              <a:buNone/>
            </a:pPr>
            <a:r>
              <a:t/>
            </a:r>
            <a:endParaRPr sz="5599">
              <a:solidFill>
                <a:srgbClr val="FFFFFF"/>
              </a:solidFill>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CONTAINERS</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solidFill>
                  <a:srgbClr val="D1D5DB"/>
                </a:solidFill>
                <a:highlight>
                  <a:schemeClr val="lt1"/>
                </a:highlight>
                <a:latin typeface="Roboto"/>
                <a:ea typeface="Roboto"/>
                <a:cs typeface="Roboto"/>
                <a:sym typeface="Roboto"/>
              </a:rPr>
              <a:t>These are classes or data structures that are used to store and organize collections of objects or elements. Containers provide a way to manage and manipulate groups of data in a structured manner.</a:t>
            </a:r>
            <a:endParaRPr sz="1400">
              <a:solidFill>
                <a:srgbClr val="D1D5DB"/>
              </a:solidFill>
              <a:highlight>
                <a:schemeClr val="lt1"/>
              </a:highlight>
              <a:latin typeface="Roboto"/>
              <a:ea typeface="Roboto"/>
              <a:cs typeface="Roboto"/>
              <a:sym typeface="Roboto"/>
            </a:endParaRPr>
          </a:p>
          <a:p>
            <a:pPr indent="0" lvl="0" marL="0" rtl="0" algn="l">
              <a:spcBef>
                <a:spcPts val="1200"/>
              </a:spcBef>
              <a:spcAft>
                <a:spcPts val="0"/>
              </a:spcAft>
              <a:buNone/>
            </a:pPr>
            <a:r>
              <a:rPr lang="en-GB" sz="1400">
                <a:solidFill>
                  <a:srgbClr val="D1D5DB"/>
                </a:solidFill>
                <a:highlight>
                  <a:schemeClr val="lt1"/>
                </a:highlight>
                <a:latin typeface="Roboto"/>
                <a:ea typeface="Roboto"/>
                <a:cs typeface="Roboto"/>
                <a:sym typeface="Roboto"/>
              </a:rPr>
              <a:t>Some examples are:</a:t>
            </a:r>
            <a:endParaRPr sz="1400">
              <a:solidFill>
                <a:srgbClr val="D1D5DB"/>
              </a:solidFill>
              <a:highlight>
                <a:schemeClr val="lt1"/>
              </a:highlight>
              <a:latin typeface="Roboto"/>
              <a:ea typeface="Roboto"/>
              <a:cs typeface="Roboto"/>
              <a:sym typeface="Roboto"/>
            </a:endParaRPr>
          </a:p>
          <a:p>
            <a:pPr indent="-330200" lvl="0" marL="457200" rtl="0" algn="l">
              <a:spcBef>
                <a:spcPts val="1200"/>
              </a:spcBef>
              <a:spcAft>
                <a:spcPts val="0"/>
              </a:spcAft>
              <a:buClr>
                <a:srgbClr val="D1D5DB"/>
              </a:buClr>
              <a:buSzPts val="1600"/>
              <a:buFont typeface="Roboto"/>
              <a:buChar char="●"/>
            </a:pPr>
            <a:r>
              <a:rPr lang="en-GB" sz="1600">
                <a:solidFill>
                  <a:srgbClr val="D1D5DB"/>
                </a:solidFill>
                <a:highlight>
                  <a:schemeClr val="lt1"/>
                </a:highlight>
                <a:latin typeface="Roboto"/>
                <a:ea typeface="Roboto"/>
                <a:cs typeface="Roboto"/>
                <a:sym typeface="Roboto"/>
              </a:rPr>
              <a:t>Vectors</a:t>
            </a:r>
            <a:endParaRPr sz="1600">
              <a:solidFill>
                <a:srgbClr val="D1D5DB"/>
              </a:solidFill>
              <a:highlight>
                <a:schemeClr val="lt1"/>
              </a:highlight>
              <a:latin typeface="Roboto"/>
              <a:ea typeface="Roboto"/>
              <a:cs typeface="Roboto"/>
              <a:sym typeface="Roboto"/>
            </a:endParaRPr>
          </a:p>
          <a:p>
            <a:pPr indent="-330200" lvl="0" marL="457200" rtl="0" algn="l">
              <a:spcBef>
                <a:spcPts val="0"/>
              </a:spcBef>
              <a:spcAft>
                <a:spcPts val="0"/>
              </a:spcAft>
              <a:buClr>
                <a:srgbClr val="D1D5DB"/>
              </a:buClr>
              <a:buSzPts val="1600"/>
              <a:buFont typeface="Roboto"/>
              <a:buChar char="●"/>
            </a:pPr>
            <a:r>
              <a:rPr lang="en-GB" sz="1600">
                <a:solidFill>
                  <a:srgbClr val="D1D5DB"/>
                </a:solidFill>
                <a:highlight>
                  <a:schemeClr val="lt1"/>
                </a:highlight>
                <a:latin typeface="Roboto"/>
                <a:ea typeface="Roboto"/>
                <a:cs typeface="Roboto"/>
                <a:sym typeface="Roboto"/>
              </a:rPr>
              <a:t>Arrays</a:t>
            </a:r>
            <a:endParaRPr sz="1600">
              <a:solidFill>
                <a:srgbClr val="D1D5DB"/>
              </a:solidFill>
              <a:highlight>
                <a:schemeClr val="lt1"/>
              </a:highlight>
              <a:latin typeface="Roboto"/>
              <a:ea typeface="Roboto"/>
              <a:cs typeface="Roboto"/>
              <a:sym typeface="Roboto"/>
            </a:endParaRPr>
          </a:p>
          <a:p>
            <a:pPr indent="-330200" lvl="0" marL="457200" rtl="0" algn="l">
              <a:spcBef>
                <a:spcPts val="0"/>
              </a:spcBef>
              <a:spcAft>
                <a:spcPts val="0"/>
              </a:spcAft>
              <a:buClr>
                <a:srgbClr val="D1D5DB"/>
              </a:buClr>
              <a:buSzPts val="1600"/>
              <a:buFont typeface="Roboto"/>
              <a:buChar char="●"/>
            </a:pPr>
            <a:r>
              <a:rPr lang="en-GB" sz="1600">
                <a:solidFill>
                  <a:srgbClr val="D1D5DB"/>
                </a:solidFill>
                <a:highlight>
                  <a:schemeClr val="lt1"/>
                </a:highlight>
                <a:latin typeface="Roboto"/>
                <a:ea typeface="Roboto"/>
                <a:cs typeface="Roboto"/>
                <a:sym typeface="Roboto"/>
              </a:rPr>
              <a:t>Queues</a:t>
            </a:r>
            <a:endParaRPr sz="1600">
              <a:solidFill>
                <a:srgbClr val="D1D5DB"/>
              </a:solidFill>
              <a:highlight>
                <a:schemeClr val="lt1"/>
              </a:highlight>
              <a:latin typeface="Roboto"/>
              <a:ea typeface="Roboto"/>
              <a:cs typeface="Roboto"/>
              <a:sym typeface="Roboto"/>
            </a:endParaRPr>
          </a:p>
          <a:p>
            <a:pPr indent="-330200" lvl="0" marL="457200" rtl="0" algn="l">
              <a:spcBef>
                <a:spcPts val="0"/>
              </a:spcBef>
              <a:spcAft>
                <a:spcPts val="0"/>
              </a:spcAft>
              <a:buClr>
                <a:srgbClr val="D1D5DB"/>
              </a:buClr>
              <a:buSzPts val="1600"/>
              <a:buFont typeface="Roboto"/>
              <a:buChar char="●"/>
            </a:pPr>
            <a:r>
              <a:rPr lang="en-GB" sz="1600">
                <a:solidFill>
                  <a:srgbClr val="D1D5DB"/>
                </a:solidFill>
                <a:highlight>
                  <a:schemeClr val="lt1"/>
                </a:highlight>
                <a:latin typeface="Roboto"/>
                <a:ea typeface="Roboto"/>
                <a:cs typeface="Roboto"/>
                <a:sym typeface="Roboto"/>
              </a:rPr>
              <a:t>Map</a:t>
            </a:r>
            <a:endParaRPr sz="1600">
              <a:solidFill>
                <a:srgbClr val="D1D5DB"/>
              </a:solidFill>
              <a:highlight>
                <a:schemeClr val="lt1"/>
              </a:highlight>
              <a:latin typeface="Roboto"/>
              <a:ea typeface="Roboto"/>
              <a:cs typeface="Roboto"/>
              <a:sym typeface="Roboto"/>
            </a:endParaRPr>
          </a:p>
          <a:p>
            <a:pPr indent="-330200" lvl="0" marL="457200" rtl="0" algn="l">
              <a:spcBef>
                <a:spcPts val="0"/>
              </a:spcBef>
              <a:spcAft>
                <a:spcPts val="0"/>
              </a:spcAft>
              <a:buClr>
                <a:srgbClr val="D1D5DB"/>
              </a:buClr>
              <a:buSzPts val="1600"/>
              <a:buFont typeface="Roboto"/>
              <a:buChar char="●"/>
            </a:pPr>
            <a:r>
              <a:rPr lang="en-GB" sz="1600">
                <a:solidFill>
                  <a:srgbClr val="D1D5DB"/>
                </a:solidFill>
                <a:highlight>
                  <a:schemeClr val="lt1"/>
                </a:highlight>
                <a:latin typeface="Roboto"/>
                <a:ea typeface="Roboto"/>
                <a:cs typeface="Roboto"/>
                <a:sym typeface="Roboto"/>
              </a:rPr>
              <a:t>Set</a:t>
            </a:r>
            <a:endParaRPr sz="1600">
              <a:solidFill>
                <a:srgbClr val="D1D5DB"/>
              </a:solidFill>
              <a:highlight>
                <a:schemeClr val="lt1"/>
              </a:highlight>
              <a:latin typeface="Roboto"/>
              <a:ea typeface="Roboto"/>
              <a:cs typeface="Roboto"/>
              <a:sym typeface="Roboto"/>
            </a:endParaRPr>
          </a:p>
          <a:p>
            <a:pPr indent="-330200" lvl="0" marL="457200" rtl="0" algn="l">
              <a:spcBef>
                <a:spcPts val="0"/>
              </a:spcBef>
              <a:spcAft>
                <a:spcPts val="0"/>
              </a:spcAft>
              <a:buClr>
                <a:srgbClr val="D1D5DB"/>
              </a:buClr>
              <a:buSzPts val="1600"/>
              <a:buFont typeface="Roboto"/>
              <a:buChar char="●"/>
            </a:pPr>
            <a:r>
              <a:rPr lang="en-GB" sz="1600">
                <a:solidFill>
                  <a:srgbClr val="D1D5DB"/>
                </a:solidFill>
                <a:highlight>
                  <a:schemeClr val="lt1"/>
                </a:highlight>
                <a:latin typeface="Roboto"/>
                <a:ea typeface="Roboto"/>
                <a:cs typeface="Roboto"/>
                <a:sym typeface="Roboto"/>
              </a:rPr>
              <a:t>Stack</a:t>
            </a:r>
            <a:endParaRPr sz="1600">
              <a:solidFill>
                <a:srgbClr val="D1D5DB"/>
              </a:solidFill>
              <a:highlight>
                <a:schemeClr val="lt1"/>
              </a:highlight>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VECTOR</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GB" sz="1400"/>
              <a:t>Vector is a container class that represents a dynamic array. It allows you to store and manipulate a collection of elements of the same data type. Unlike a fixed-size array, a vector can dynamically resize itself to accommodate a varying number of elements. It provides a convenient interface and several member functions to efficiently manage and access its elements.</a:t>
            </a:r>
            <a:endParaRPr sz="1400"/>
          </a:p>
          <a:p>
            <a:pPr indent="0" lvl="0" marL="0" rtl="0" algn="l">
              <a:spcBef>
                <a:spcPts val="1500"/>
              </a:spcBef>
              <a:spcAft>
                <a:spcPts val="0"/>
              </a:spcAft>
              <a:buNone/>
            </a:pPr>
            <a:r>
              <a:rPr lang="en-GB" sz="1400"/>
              <a:t>Header file: #include &lt;vector&gt;</a:t>
            </a:r>
            <a:endParaRPr sz="1400"/>
          </a:p>
          <a:p>
            <a:pPr indent="0" lvl="0" marL="0" rtl="0" algn="l">
              <a:spcBef>
                <a:spcPts val="1200"/>
              </a:spcBef>
              <a:spcAft>
                <a:spcPts val="0"/>
              </a:spcAft>
              <a:buNone/>
            </a:pPr>
            <a:r>
              <a:rPr lang="en-GB" sz="1400"/>
              <a:t>It has various member functions such as:</a:t>
            </a:r>
            <a:endParaRPr sz="1300">
              <a:solidFill>
                <a:srgbClr val="FFFFFF"/>
              </a:solidFill>
              <a:highlight>
                <a:srgbClr val="131417"/>
              </a:highlight>
              <a:latin typeface="Nunito"/>
              <a:ea typeface="Nunito"/>
              <a:cs typeface="Nunito"/>
              <a:sym typeface="Nunito"/>
            </a:endParaRPr>
          </a:p>
          <a:p>
            <a:pPr indent="-309562" lvl="0" marL="457200" rtl="0" algn="l">
              <a:lnSpc>
                <a:spcPct val="158000"/>
              </a:lnSpc>
              <a:spcBef>
                <a:spcPts val="1200"/>
              </a:spcBef>
              <a:spcAft>
                <a:spcPts val="0"/>
              </a:spcAft>
              <a:buSzPct val="100000"/>
              <a:buChar char="●"/>
            </a:pPr>
            <a:r>
              <a:rPr lang="en-GB" sz="1500">
                <a:highlight>
                  <a:srgbClr val="131417"/>
                </a:highlight>
              </a:rPr>
              <a:t>size() – Returns the number of elements in the vector.</a:t>
            </a:r>
            <a:endParaRPr sz="1500">
              <a:highlight>
                <a:srgbClr val="131417"/>
              </a:highlight>
            </a:endParaRPr>
          </a:p>
          <a:p>
            <a:pPr indent="-309562" lvl="0" marL="457200" rtl="0" algn="l">
              <a:lnSpc>
                <a:spcPct val="158000"/>
              </a:lnSpc>
              <a:spcBef>
                <a:spcPts val="0"/>
              </a:spcBef>
              <a:spcAft>
                <a:spcPts val="0"/>
              </a:spcAft>
              <a:buSzPct val="100000"/>
              <a:buChar char="●"/>
            </a:pPr>
            <a:r>
              <a:rPr lang="en-GB" sz="1500">
                <a:highlight>
                  <a:srgbClr val="131417"/>
                </a:highlight>
              </a:rPr>
              <a:t>at(g) – Returns a reference to the element at position ‘g’ in the vector</a:t>
            </a:r>
            <a:endParaRPr sz="1500">
              <a:highlight>
                <a:srgbClr val="131417"/>
              </a:highlight>
            </a:endParaRPr>
          </a:p>
          <a:p>
            <a:pPr indent="-309562" lvl="0" marL="457200" rtl="0" algn="l">
              <a:lnSpc>
                <a:spcPct val="158000"/>
              </a:lnSpc>
              <a:spcBef>
                <a:spcPts val="0"/>
              </a:spcBef>
              <a:spcAft>
                <a:spcPts val="0"/>
              </a:spcAft>
              <a:buSzPct val="100000"/>
              <a:buChar char="●"/>
            </a:pPr>
            <a:r>
              <a:rPr lang="en-GB" sz="1500">
                <a:highlight>
                  <a:srgbClr val="131417"/>
                </a:highlight>
              </a:rPr>
              <a:t>front() – Returns a reference to the first element in the vector</a:t>
            </a:r>
            <a:endParaRPr sz="1500">
              <a:highlight>
                <a:srgbClr val="131417"/>
              </a:highlight>
            </a:endParaRPr>
          </a:p>
          <a:p>
            <a:pPr indent="-309562" lvl="0" marL="457200" rtl="0" algn="l">
              <a:lnSpc>
                <a:spcPct val="158000"/>
              </a:lnSpc>
              <a:spcBef>
                <a:spcPts val="0"/>
              </a:spcBef>
              <a:spcAft>
                <a:spcPts val="0"/>
              </a:spcAft>
              <a:buSzPct val="100000"/>
              <a:buChar char="●"/>
            </a:pPr>
            <a:r>
              <a:rPr lang="en-GB" sz="1500">
                <a:highlight>
                  <a:srgbClr val="131417"/>
                </a:highlight>
              </a:rPr>
              <a:t>back() – Returns a reference to the last element in the vector</a:t>
            </a:r>
            <a:endParaRPr sz="1500">
              <a:highlight>
                <a:srgbClr val="131417"/>
              </a:highlight>
            </a:endParaRPr>
          </a:p>
          <a:p>
            <a:pPr indent="-309562" lvl="0" marL="457200" rtl="0" algn="l">
              <a:lnSpc>
                <a:spcPct val="158000"/>
              </a:lnSpc>
              <a:spcBef>
                <a:spcPts val="0"/>
              </a:spcBef>
              <a:spcAft>
                <a:spcPts val="0"/>
              </a:spcAft>
              <a:buSzPct val="100000"/>
              <a:buChar char="●"/>
            </a:pPr>
            <a:r>
              <a:rPr lang="en-GB" sz="1500">
                <a:highlight>
                  <a:srgbClr val="131417"/>
                </a:highlight>
              </a:rPr>
              <a:t>push_back() – It push the elements into a vector from the back</a:t>
            </a:r>
            <a:endParaRPr sz="1500">
              <a:highlight>
                <a:srgbClr val="131417"/>
              </a:highlight>
            </a:endParaRPr>
          </a:p>
          <a:p>
            <a:pPr indent="-309562" lvl="0" marL="457200" rtl="0" algn="l">
              <a:lnSpc>
                <a:spcPct val="158000"/>
              </a:lnSpc>
              <a:spcBef>
                <a:spcPts val="0"/>
              </a:spcBef>
              <a:spcAft>
                <a:spcPts val="0"/>
              </a:spcAft>
              <a:buSzPct val="100000"/>
              <a:buChar char="●"/>
            </a:pPr>
            <a:r>
              <a:rPr lang="en-GB" sz="1500">
                <a:highlight>
                  <a:srgbClr val="131417"/>
                </a:highlight>
              </a:rPr>
              <a:t>pop_back() – It is used to pop or remove elements from a vector from the back.</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QUEUE</a:t>
            </a:r>
            <a:endParaRPr/>
          </a:p>
        </p:txBody>
      </p:sp>
      <p:sp>
        <p:nvSpPr>
          <p:cNvPr id="85" name="Google Shape;85;p18"/>
          <p:cNvSpPr txBox="1"/>
          <p:nvPr>
            <p:ph idx="1" type="body"/>
          </p:nvPr>
        </p:nvSpPr>
        <p:spPr>
          <a:xfrm>
            <a:off x="262900" y="1142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latin typeface="Roboto"/>
                <a:ea typeface="Roboto"/>
                <a:cs typeface="Roboto"/>
                <a:sym typeface="Roboto"/>
              </a:rPr>
              <a:t>Queue is a container class  that represents a First-In-First-Out (FIFO) data structure. It is used to store a collection of elements in a specific order where the element that is added first is the first one to be removed.</a:t>
            </a:r>
            <a:endParaRPr sz="1400">
              <a:latin typeface="Roboto"/>
              <a:ea typeface="Roboto"/>
              <a:cs typeface="Roboto"/>
              <a:sym typeface="Roboto"/>
            </a:endParaRPr>
          </a:p>
          <a:p>
            <a:pPr indent="0" lvl="0" marL="0" rtl="0" algn="l">
              <a:spcBef>
                <a:spcPts val="1200"/>
              </a:spcBef>
              <a:spcAft>
                <a:spcPts val="0"/>
              </a:spcAft>
              <a:buNone/>
            </a:pPr>
            <a:r>
              <a:rPr lang="en-GB" sz="1400">
                <a:latin typeface="Roboto"/>
                <a:ea typeface="Roboto"/>
                <a:cs typeface="Roboto"/>
                <a:sym typeface="Roboto"/>
              </a:rPr>
              <a:t>Header file: #include &lt;queue&gt;</a:t>
            </a:r>
            <a:endParaRPr sz="1400">
              <a:latin typeface="Roboto"/>
              <a:ea typeface="Roboto"/>
              <a:cs typeface="Roboto"/>
              <a:sym typeface="Roboto"/>
            </a:endParaRPr>
          </a:p>
          <a:p>
            <a:pPr indent="0" lvl="0" marL="0" rtl="0" algn="l">
              <a:spcBef>
                <a:spcPts val="1200"/>
              </a:spcBef>
              <a:spcAft>
                <a:spcPts val="0"/>
              </a:spcAft>
              <a:buNone/>
            </a:pPr>
            <a:r>
              <a:rPr lang="en-GB" sz="1400">
                <a:latin typeface="Roboto"/>
                <a:ea typeface="Roboto"/>
                <a:cs typeface="Roboto"/>
                <a:sym typeface="Roboto"/>
              </a:rPr>
              <a:t>Std: :queue&lt;int&gt; Q;</a:t>
            </a:r>
            <a:endParaRPr sz="1400">
              <a:latin typeface="Roboto"/>
              <a:ea typeface="Roboto"/>
              <a:cs typeface="Roboto"/>
              <a:sym typeface="Roboto"/>
            </a:endParaRPr>
          </a:p>
          <a:p>
            <a:pPr indent="0" lvl="0" marL="0" rtl="0" algn="l">
              <a:spcBef>
                <a:spcPts val="1200"/>
              </a:spcBef>
              <a:spcAft>
                <a:spcPts val="0"/>
              </a:spcAft>
              <a:buNone/>
            </a:pPr>
            <a:r>
              <a:rPr lang="en-GB" sz="1400">
                <a:latin typeface="Roboto"/>
                <a:ea typeface="Roboto"/>
                <a:cs typeface="Roboto"/>
                <a:sym typeface="Roboto"/>
              </a:rPr>
              <a:t>Q.push(10);</a:t>
            </a:r>
            <a:endParaRPr sz="1400">
              <a:latin typeface="Roboto"/>
              <a:ea typeface="Roboto"/>
              <a:cs typeface="Roboto"/>
              <a:sym typeface="Roboto"/>
            </a:endParaRPr>
          </a:p>
          <a:p>
            <a:pPr indent="0" lvl="0" marL="0" rtl="0" algn="l">
              <a:spcBef>
                <a:spcPts val="1200"/>
              </a:spcBef>
              <a:spcAft>
                <a:spcPts val="0"/>
              </a:spcAft>
              <a:buNone/>
            </a:pPr>
            <a:r>
              <a:rPr lang="en-GB" sz="1400">
                <a:latin typeface="Roboto"/>
                <a:ea typeface="Roboto"/>
                <a:cs typeface="Roboto"/>
                <a:sym typeface="Roboto"/>
              </a:rPr>
              <a:t>Q.push(20);</a:t>
            </a:r>
            <a:endParaRPr sz="1400">
              <a:latin typeface="Roboto"/>
              <a:ea typeface="Roboto"/>
              <a:cs typeface="Roboto"/>
              <a:sym typeface="Roboto"/>
            </a:endParaRPr>
          </a:p>
          <a:p>
            <a:pPr indent="0" lvl="0" marL="0" rtl="0" algn="l">
              <a:spcBef>
                <a:spcPts val="1200"/>
              </a:spcBef>
              <a:spcAft>
                <a:spcPts val="1200"/>
              </a:spcAft>
              <a:buNone/>
            </a:pPr>
            <a:r>
              <a:rPr lang="en-GB" sz="1400">
                <a:latin typeface="Roboto"/>
                <a:ea typeface="Roboto"/>
                <a:cs typeface="Roboto"/>
                <a:sym typeface="Roboto"/>
              </a:rPr>
              <a:t>Q.pop() and Q.front() return the value 10 (first in).</a:t>
            </a:r>
            <a:endParaRPr sz="1400">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STACK</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latin typeface="Roboto"/>
                <a:ea typeface="Roboto"/>
                <a:cs typeface="Roboto"/>
                <a:sym typeface="Roboto"/>
              </a:rPr>
              <a:t>Stack</a:t>
            </a:r>
            <a:r>
              <a:rPr lang="en-GB" sz="1400">
                <a:latin typeface="Roboto"/>
                <a:ea typeface="Roboto"/>
                <a:cs typeface="Roboto"/>
                <a:sym typeface="Roboto"/>
              </a:rPr>
              <a:t> is a container class  that represents a Last-In-First-Out (LIFO) data structure. It is used to store a collection of elements in a specific order where the element that is added last is the first one to be removed.</a:t>
            </a:r>
            <a:endParaRPr sz="1400">
              <a:latin typeface="Roboto"/>
              <a:ea typeface="Roboto"/>
              <a:cs typeface="Roboto"/>
              <a:sym typeface="Roboto"/>
            </a:endParaRPr>
          </a:p>
          <a:p>
            <a:pPr indent="0" lvl="0" marL="0" rtl="0" algn="l">
              <a:spcBef>
                <a:spcPts val="1200"/>
              </a:spcBef>
              <a:spcAft>
                <a:spcPts val="0"/>
              </a:spcAft>
              <a:buNone/>
            </a:pPr>
            <a:r>
              <a:rPr lang="en-GB" sz="1400"/>
              <a:t>Header file: #include &lt;stack&gt;</a:t>
            </a:r>
            <a:endParaRPr sz="1400"/>
          </a:p>
          <a:p>
            <a:pPr indent="0" lvl="0" marL="0" rtl="0" algn="l">
              <a:spcBef>
                <a:spcPts val="1200"/>
              </a:spcBef>
              <a:spcAft>
                <a:spcPts val="0"/>
              </a:spcAft>
              <a:buNone/>
            </a:pPr>
            <a:r>
              <a:rPr lang="en-GB" sz="1400">
                <a:latin typeface="Roboto"/>
                <a:ea typeface="Roboto"/>
                <a:cs typeface="Roboto"/>
                <a:sym typeface="Roboto"/>
              </a:rPr>
              <a:t>Std: :stack&lt;int&gt; S;</a:t>
            </a:r>
            <a:endParaRPr sz="1400">
              <a:latin typeface="Roboto"/>
              <a:ea typeface="Roboto"/>
              <a:cs typeface="Roboto"/>
              <a:sym typeface="Roboto"/>
            </a:endParaRPr>
          </a:p>
          <a:p>
            <a:pPr indent="0" lvl="0" marL="0" rtl="0" algn="l">
              <a:spcBef>
                <a:spcPts val="1200"/>
              </a:spcBef>
              <a:spcAft>
                <a:spcPts val="0"/>
              </a:spcAft>
              <a:buNone/>
            </a:pPr>
            <a:r>
              <a:rPr lang="en-GB" sz="1400">
                <a:latin typeface="Roboto"/>
                <a:ea typeface="Roboto"/>
                <a:cs typeface="Roboto"/>
                <a:sym typeface="Roboto"/>
              </a:rPr>
              <a:t>S.push(10);</a:t>
            </a:r>
            <a:endParaRPr sz="1400">
              <a:latin typeface="Roboto"/>
              <a:ea typeface="Roboto"/>
              <a:cs typeface="Roboto"/>
              <a:sym typeface="Roboto"/>
            </a:endParaRPr>
          </a:p>
          <a:p>
            <a:pPr indent="0" lvl="0" marL="0" rtl="0" algn="l">
              <a:spcBef>
                <a:spcPts val="1200"/>
              </a:spcBef>
              <a:spcAft>
                <a:spcPts val="0"/>
              </a:spcAft>
              <a:buNone/>
            </a:pPr>
            <a:r>
              <a:rPr lang="en-GB" sz="1400">
                <a:latin typeface="Roboto"/>
                <a:ea typeface="Roboto"/>
                <a:cs typeface="Roboto"/>
                <a:sym typeface="Roboto"/>
              </a:rPr>
              <a:t>S.push(20);</a:t>
            </a:r>
            <a:endParaRPr sz="1400">
              <a:latin typeface="Roboto"/>
              <a:ea typeface="Roboto"/>
              <a:cs typeface="Roboto"/>
              <a:sym typeface="Roboto"/>
            </a:endParaRPr>
          </a:p>
          <a:p>
            <a:pPr indent="0" lvl="0" marL="0" rtl="0" algn="l">
              <a:spcBef>
                <a:spcPts val="1200"/>
              </a:spcBef>
              <a:spcAft>
                <a:spcPts val="0"/>
              </a:spcAft>
              <a:buNone/>
            </a:pPr>
            <a:r>
              <a:rPr lang="en-GB" sz="1400">
                <a:latin typeface="Roboto"/>
                <a:ea typeface="Roboto"/>
                <a:cs typeface="Roboto"/>
                <a:sym typeface="Roboto"/>
              </a:rPr>
              <a:t>S.top() and S.back() return the value 20 (last in).</a:t>
            </a:r>
            <a:endParaRPr sz="1400">
              <a:latin typeface="Roboto"/>
              <a:ea typeface="Roboto"/>
              <a:cs typeface="Roboto"/>
              <a:sym typeface="Roboto"/>
            </a:endParaRPr>
          </a:p>
          <a:p>
            <a:pPr indent="0" lvl="0" marL="0" rtl="0" algn="l">
              <a:spcBef>
                <a:spcPts val="1200"/>
              </a:spcBef>
              <a:spcAft>
                <a:spcPts val="1200"/>
              </a:spcAft>
              <a:buNone/>
            </a:pPr>
            <a:r>
              <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SET</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t>Set is a container class that represents a collection of unique elements in a specific order. It is used to store and manage a sorted set of elements with no duplicates.</a:t>
            </a:r>
            <a:r>
              <a:rPr lang="en-GB" sz="1400">
                <a:highlight>
                  <a:srgbClr val="131417"/>
                </a:highlight>
              </a:rPr>
              <a:t>The values are stored in a specific sorted order i.e. either ascending or descending.</a:t>
            </a:r>
            <a:endParaRPr sz="1400">
              <a:highlight>
                <a:srgbClr val="131417"/>
              </a:highlight>
            </a:endParaRPr>
          </a:p>
          <a:p>
            <a:pPr indent="0" lvl="0" marL="0" rtl="0" algn="l">
              <a:spcBef>
                <a:spcPts val="1200"/>
              </a:spcBef>
              <a:spcAft>
                <a:spcPts val="0"/>
              </a:spcAft>
              <a:buNone/>
            </a:pPr>
            <a:r>
              <a:rPr lang="en-GB" sz="1400">
                <a:highlight>
                  <a:srgbClr val="131417"/>
                </a:highlight>
              </a:rPr>
              <a:t>Header file: #include &lt;set&gt;</a:t>
            </a:r>
            <a:endParaRPr sz="1400">
              <a:highlight>
                <a:srgbClr val="131417"/>
              </a:highlight>
            </a:endParaRPr>
          </a:p>
          <a:p>
            <a:pPr indent="0" lvl="0" marL="0" rtl="0" algn="l">
              <a:spcBef>
                <a:spcPts val="1200"/>
              </a:spcBef>
              <a:spcAft>
                <a:spcPts val="0"/>
              </a:spcAft>
              <a:buNone/>
            </a:pPr>
            <a:r>
              <a:rPr lang="en-GB" sz="1400">
                <a:highlight>
                  <a:srgbClr val="131417"/>
                </a:highlight>
              </a:rPr>
              <a:t>Std: :set&lt;int&gt; S;</a:t>
            </a:r>
            <a:endParaRPr sz="1400">
              <a:highlight>
                <a:srgbClr val="131417"/>
              </a:highlight>
            </a:endParaRPr>
          </a:p>
          <a:p>
            <a:pPr indent="0" lvl="0" marL="0" rtl="0" algn="l">
              <a:spcBef>
                <a:spcPts val="1200"/>
              </a:spcBef>
              <a:spcAft>
                <a:spcPts val="0"/>
              </a:spcAft>
              <a:buNone/>
            </a:pPr>
            <a:r>
              <a:rPr lang="en-GB" sz="1400">
                <a:highlight>
                  <a:srgbClr val="131417"/>
                </a:highlight>
              </a:rPr>
              <a:t>S.insert(10);</a:t>
            </a:r>
            <a:endParaRPr sz="1400">
              <a:highlight>
                <a:srgbClr val="131417"/>
              </a:highlight>
            </a:endParaRPr>
          </a:p>
          <a:p>
            <a:pPr indent="0" lvl="0" marL="0" rtl="0" algn="l">
              <a:spcBef>
                <a:spcPts val="1200"/>
              </a:spcBef>
              <a:spcAft>
                <a:spcPts val="0"/>
              </a:spcAft>
              <a:buNone/>
            </a:pPr>
            <a:r>
              <a:rPr lang="en-GB" sz="1400">
                <a:highlight>
                  <a:srgbClr val="131417"/>
                </a:highlight>
              </a:rPr>
              <a:t>S.insert(20);</a:t>
            </a:r>
            <a:endParaRPr sz="1400">
              <a:highlight>
                <a:srgbClr val="131417"/>
              </a:highlight>
            </a:endParaRPr>
          </a:p>
          <a:p>
            <a:pPr indent="0" lvl="0" marL="0" rtl="0" algn="l">
              <a:spcBef>
                <a:spcPts val="1200"/>
              </a:spcBef>
              <a:spcAft>
                <a:spcPts val="1200"/>
              </a:spcAft>
              <a:buNone/>
            </a:pPr>
            <a:r>
              <a:rPr lang="en-GB" sz="1400">
                <a:highlight>
                  <a:srgbClr val="131417"/>
                </a:highlight>
              </a:rPr>
              <a:t>S.erase(20); // erases 20 from the set</a:t>
            </a:r>
            <a:endParaRPr sz="1400">
              <a:highlight>
                <a:srgbClr val="131417"/>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FUNCTORS</a:t>
            </a:r>
            <a:endParaRPr/>
          </a:p>
        </p:txBody>
      </p:sp>
      <p:sp>
        <p:nvSpPr>
          <p:cNvPr id="103" name="Google Shape;103;p21"/>
          <p:cNvSpPr txBox="1"/>
          <p:nvPr>
            <p:ph idx="1" type="body"/>
          </p:nvPr>
        </p:nvSpPr>
        <p:spPr>
          <a:xfrm>
            <a:off x="311700" y="116222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GB" sz="5600"/>
              <a:t>Functors are </a:t>
            </a:r>
            <a:r>
              <a:rPr lang="en-GB" sz="5600"/>
              <a:t>objects that can be treated and used as if they were functions.A functor is any object that can be invoked using the function call operator ().</a:t>
            </a:r>
            <a:endParaRPr sz="5600"/>
          </a:p>
          <a:p>
            <a:pPr indent="0" lvl="0" marL="0" rtl="0" algn="l">
              <a:spcBef>
                <a:spcPts val="1200"/>
              </a:spcBef>
              <a:spcAft>
                <a:spcPts val="0"/>
              </a:spcAft>
              <a:buNone/>
            </a:pPr>
            <a:r>
              <a:rPr lang="en-GB" sz="5600"/>
              <a:t>#include &lt;iostream&gt;</a:t>
            </a:r>
            <a:endParaRPr sz="5600"/>
          </a:p>
          <a:p>
            <a:pPr indent="0" lvl="0" marL="0" rtl="0" algn="l">
              <a:lnSpc>
                <a:spcPct val="100000"/>
              </a:lnSpc>
              <a:spcBef>
                <a:spcPts val="1200"/>
              </a:spcBef>
              <a:spcAft>
                <a:spcPts val="0"/>
              </a:spcAft>
              <a:buNone/>
            </a:pPr>
            <a:r>
              <a:rPr lang="en-GB" sz="4800"/>
              <a:t>class Incrementer {</a:t>
            </a:r>
            <a:endParaRPr sz="4800"/>
          </a:p>
          <a:p>
            <a:pPr indent="0" lvl="0" marL="0" rtl="0" algn="l">
              <a:lnSpc>
                <a:spcPct val="100000"/>
              </a:lnSpc>
              <a:spcBef>
                <a:spcPts val="0"/>
              </a:spcBef>
              <a:spcAft>
                <a:spcPts val="0"/>
              </a:spcAft>
              <a:buNone/>
            </a:pPr>
            <a:r>
              <a:rPr lang="en-GB" sz="4800"/>
              <a:t>public:</a:t>
            </a:r>
            <a:endParaRPr sz="4800"/>
          </a:p>
          <a:p>
            <a:pPr indent="0" lvl="0" marL="0" rtl="0" algn="l">
              <a:lnSpc>
                <a:spcPct val="100000"/>
              </a:lnSpc>
              <a:spcBef>
                <a:spcPts val="0"/>
              </a:spcBef>
              <a:spcAft>
                <a:spcPts val="0"/>
              </a:spcAft>
              <a:buNone/>
            </a:pPr>
            <a:r>
              <a:rPr lang="en-GB" sz="4800"/>
              <a:t>    int operator()(int value) const {</a:t>
            </a:r>
            <a:endParaRPr sz="4800"/>
          </a:p>
          <a:p>
            <a:pPr indent="0" lvl="0" marL="0" rtl="0" algn="l">
              <a:lnSpc>
                <a:spcPct val="100000"/>
              </a:lnSpc>
              <a:spcBef>
                <a:spcPts val="0"/>
              </a:spcBef>
              <a:spcAft>
                <a:spcPts val="0"/>
              </a:spcAft>
              <a:buNone/>
            </a:pPr>
            <a:r>
              <a:rPr lang="en-GB" sz="4800"/>
              <a:t>        return value + 1;</a:t>
            </a:r>
            <a:endParaRPr sz="4800"/>
          </a:p>
          <a:p>
            <a:pPr indent="0" lvl="0" marL="0" rtl="0" algn="l">
              <a:lnSpc>
                <a:spcPct val="100000"/>
              </a:lnSpc>
              <a:spcBef>
                <a:spcPts val="0"/>
              </a:spcBef>
              <a:spcAft>
                <a:spcPts val="0"/>
              </a:spcAft>
              <a:buNone/>
            </a:pPr>
            <a:r>
              <a:rPr lang="en-GB" sz="4800"/>
              <a:t>    }</a:t>
            </a:r>
            <a:endParaRPr sz="4800"/>
          </a:p>
          <a:p>
            <a:pPr indent="0" lvl="0" marL="0" rtl="0" algn="l">
              <a:lnSpc>
                <a:spcPct val="100000"/>
              </a:lnSpc>
              <a:spcBef>
                <a:spcPts val="0"/>
              </a:spcBef>
              <a:spcAft>
                <a:spcPts val="0"/>
              </a:spcAft>
              <a:buNone/>
            </a:pPr>
            <a:r>
              <a:rPr lang="en-GB" sz="4800"/>
              <a:t>};</a:t>
            </a:r>
            <a:endParaRPr sz="4800"/>
          </a:p>
          <a:p>
            <a:pPr indent="0" lvl="0" marL="0" rtl="0" algn="l">
              <a:lnSpc>
                <a:spcPct val="100000"/>
              </a:lnSpc>
              <a:spcBef>
                <a:spcPts val="0"/>
              </a:spcBef>
              <a:spcAft>
                <a:spcPts val="0"/>
              </a:spcAft>
              <a:buNone/>
            </a:pPr>
            <a:r>
              <a:rPr lang="en-GB" sz="4800"/>
              <a:t>int main() {</a:t>
            </a:r>
            <a:endParaRPr sz="4800"/>
          </a:p>
          <a:p>
            <a:pPr indent="0" lvl="0" marL="0" rtl="0" algn="l">
              <a:lnSpc>
                <a:spcPct val="100000"/>
              </a:lnSpc>
              <a:spcBef>
                <a:spcPts val="0"/>
              </a:spcBef>
              <a:spcAft>
                <a:spcPts val="0"/>
              </a:spcAft>
              <a:buNone/>
            </a:pPr>
            <a:r>
              <a:rPr lang="en-GB" sz="4800"/>
              <a:t>    Incrementer increment;</a:t>
            </a:r>
            <a:endParaRPr sz="4800"/>
          </a:p>
          <a:p>
            <a:pPr indent="0" lvl="0" marL="0" rtl="0" algn="l">
              <a:lnSpc>
                <a:spcPct val="100000"/>
              </a:lnSpc>
              <a:spcBef>
                <a:spcPts val="0"/>
              </a:spcBef>
              <a:spcAft>
                <a:spcPts val="0"/>
              </a:spcAft>
              <a:buNone/>
            </a:pPr>
            <a:r>
              <a:t/>
            </a:r>
            <a:endParaRPr sz="4800"/>
          </a:p>
          <a:p>
            <a:pPr indent="0" lvl="0" marL="0" rtl="0" algn="l">
              <a:lnSpc>
                <a:spcPct val="100000"/>
              </a:lnSpc>
              <a:spcBef>
                <a:spcPts val="0"/>
              </a:spcBef>
              <a:spcAft>
                <a:spcPts val="0"/>
              </a:spcAft>
              <a:buNone/>
            </a:pPr>
            <a:r>
              <a:rPr lang="en-GB" sz="4800"/>
              <a:t>    int result = increment(5); // Using the functor like a function</a:t>
            </a:r>
            <a:endParaRPr sz="4800"/>
          </a:p>
          <a:p>
            <a:pPr indent="0" lvl="0" marL="0" rtl="0" algn="l">
              <a:lnSpc>
                <a:spcPct val="100000"/>
              </a:lnSpc>
              <a:spcBef>
                <a:spcPts val="0"/>
              </a:spcBef>
              <a:spcAft>
                <a:spcPts val="0"/>
              </a:spcAft>
              <a:buNone/>
            </a:pPr>
            <a:r>
              <a:rPr lang="en-GB" sz="4800"/>
              <a:t>    std::cout &lt;&lt; result &lt;&lt; std::endl; // Output: 6</a:t>
            </a:r>
            <a:endParaRPr sz="4800"/>
          </a:p>
          <a:p>
            <a:pPr indent="0" lvl="0" marL="0" rtl="0" algn="l">
              <a:lnSpc>
                <a:spcPct val="100000"/>
              </a:lnSpc>
              <a:spcBef>
                <a:spcPts val="0"/>
              </a:spcBef>
              <a:spcAft>
                <a:spcPts val="0"/>
              </a:spcAft>
              <a:buNone/>
            </a:pPr>
            <a:r>
              <a:t/>
            </a:r>
            <a:endParaRPr sz="4800">
              <a:latin typeface="Roboto"/>
              <a:ea typeface="Roboto"/>
              <a:cs typeface="Roboto"/>
              <a:sym typeface="Roboto"/>
            </a:endParaRPr>
          </a:p>
          <a:p>
            <a:pPr indent="0" lvl="0" marL="0" rtl="0" algn="l">
              <a:lnSpc>
                <a:spcPct val="100000"/>
              </a:lnSpc>
              <a:spcBef>
                <a:spcPts val="0"/>
              </a:spcBef>
              <a:spcAft>
                <a:spcPts val="0"/>
              </a:spcAft>
              <a:buNone/>
            </a:pPr>
            <a:r>
              <a:rPr lang="en-GB" sz="4800">
                <a:latin typeface="Roboto"/>
                <a:ea typeface="Roboto"/>
                <a:cs typeface="Roboto"/>
                <a:sym typeface="Roboto"/>
              </a:rPr>
              <a:t>    return 0;</a:t>
            </a:r>
            <a:endParaRPr sz="4800">
              <a:latin typeface="Roboto"/>
              <a:ea typeface="Roboto"/>
              <a:cs typeface="Roboto"/>
              <a:sym typeface="Roboto"/>
            </a:endParaRPr>
          </a:p>
          <a:p>
            <a:pPr indent="0" lvl="0" marL="0" rtl="0" algn="l">
              <a:lnSpc>
                <a:spcPct val="100000"/>
              </a:lnSpc>
              <a:spcBef>
                <a:spcPts val="0"/>
              </a:spcBef>
              <a:spcAft>
                <a:spcPts val="0"/>
              </a:spcAft>
              <a:buNone/>
            </a:pPr>
            <a:r>
              <a:rPr lang="en-GB" sz="4800">
                <a:latin typeface="Roboto"/>
                <a:ea typeface="Roboto"/>
                <a:cs typeface="Roboto"/>
                <a:sym typeface="Roboto"/>
              </a:rPr>
              <a:t>}</a:t>
            </a:r>
            <a:endParaRPr sz="4800">
              <a:latin typeface="Roboto"/>
              <a:ea typeface="Roboto"/>
              <a:cs typeface="Roboto"/>
              <a:sym typeface="Roboto"/>
            </a:endParaRPr>
          </a:p>
          <a:p>
            <a:pPr indent="0" lvl="0" marL="0" rtl="0" algn="l">
              <a:spcBef>
                <a:spcPts val="1500"/>
              </a:spcBef>
              <a:spcAft>
                <a:spcPts val="0"/>
              </a:spcAft>
              <a:buNone/>
            </a:pPr>
            <a:r>
              <a:rPr lang="en-GB" sz="5200">
                <a:solidFill>
                  <a:srgbClr val="D1D5DB"/>
                </a:solidFill>
                <a:highlight>
                  <a:srgbClr val="444654"/>
                </a:highlight>
                <a:latin typeface="Roboto"/>
                <a:ea typeface="Roboto"/>
                <a:cs typeface="Roboto"/>
                <a:sym typeface="Roboto"/>
              </a:rPr>
              <a:t>Incrementer class defines the function operator ,operator(), which increments the input value by 1. An instance of the Incrementer class is created, and the instance is used as a functor by calling it with an argument.</a:t>
            </a:r>
            <a:endParaRPr sz="5200">
              <a:solidFill>
                <a:srgbClr val="D1D5DB"/>
              </a:solidFill>
              <a:highlight>
                <a:srgbClr val="444654"/>
              </a:highlight>
              <a:latin typeface="Roboto"/>
              <a:ea typeface="Roboto"/>
              <a:cs typeface="Roboto"/>
              <a:sym typeface="Roboto"/>
            </a:endParaRPr>
          </a:p>
          <a:p>
            <a:pPr indent="0" lvl="0" marL="0" rtl="0" algn="l">
              <a:spcBef>
                <a:spcPts val="1500"/>
              </a:spcBef>
              <a:spcAft>
                <a:spcPts val="0"/>
              </a:spcAft>
              <a:buNone/>
            </a:pPr>
            <a:r>
              <a:t/>
            </a:r>
            <a:endParaRPr sz="1100">
              <a:solidFill>
                <a:srgbClr val="000000"/>
              </a:solidFill>
            </a:endParaRPr>
          </a:p>
          <a:p>
            <a:pPr indent="0" lvl="0" marL="0" rtl="0" algn="l">
              <a:lnSpc>
                <a:spcPct val="100000"/>
              </a:lnSpc>
              <a:spcBef>
                <a:spcPts val="0"/>
              </a:spcBef>
              <a:spcAft>
                <a:spcPts val="0"/>
              </a:spcAft>
              <a:buNone/>
            </a:pPr>
            <a:r>
              <a:t/>
            </a:r>
            <a:endParaRPr sz="5600">
              <a:latin typeface="Roboto"/>
              <a:ea typeface="Roboto"/>
              <a:cs typeface="Roboto"/>
              <a:sym typeface="Roboto"/>
            </a:endParaRPr>
          </a:p>
          <a:p>
            <a:pPr indent="0" lvl="0" marL="0" rtl="0" algn="l">
              <a:lnSpc>
                <a:spcPct val="100000"/>
              </a:lnSpc>
              <a:spcBef>
                <a:spcPts val="0"/>
              </a:spcBef>
              <a:spcAft>
                <a:spcPts val="0"/>
              </a:spcAft>
              <a:buNone/>
            </a:pPr>
            <a:r>
              <a:t/>
            </a:r>
            <a:endParaRPr sz="5600">
              <a:latin typeface="Roboto"/>
              <a:ea typeface="Roboto"/>
              <a:cs typeface="Roboto"/>
              <a:sym typeface="Roboto"/>
            </a:endParaRPr>
          </a:p>
          <a:p>
            <a:pPr indent="0" lvl="0" marL="0" rtl="0" algn="l">
              <a:lnSpc>
                <a:spcPct val="100000"/>
              </a:lnSpc>
              <a:spcBef>
                <a:spcPts val="0"/>
              </a:spcBef>
              <a:spcAft>
                <a:spcPts val="0"/>
              </a:spcAft>
              <a:buNone/>
            </a:pPr>
            <a:r>
              <a:t/>
            </a:r>
            <a:endParaRPr sz="5600">
              <a:latin typeface="Roboto"/>
              <a:ea typeface="Roboto"/>
              <a:cs typeface="Roboto"/>
              <a:sym typeface="Roboto"/>
            </a:endParaRPr>
          </a:p>
          <a:p>
            <a:pPr indent="0" lvl="0" marL="0" rtl="0" algn="l">
              <a:lnSpc>
                <a:spcPct val="100000"/>
              </a:lnSpc>
              <a:spcBef>
                <a:spcPts val="0"/>
              </a:spcBef>
              <a:spcAft>
                <a:spcPts val="0"/>
              </a:spcAft>
              <a:buNone/>
            </a:pPr>
            <a:r>
              <a:t/>
            </a:r>
            <a:endParaRPr sz="5600">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Clr>
                <a:srgbClr val="262626"/>
              </a:buClr>
              <a:buSzPts val="3600"/>
              <a:buFont typeface="Arial"/>
              <a:buNone/>
            </a:pPr>
            <a:r>
              <a:rPr lang="en-GB" sz="2500"/>
              <a:t>What is Time Complexity ?</a:t>
            </a:r>
            <a:endParaRPr sz="2500"/>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rgbClr val="000000"/>
              </a:buClr>
              <a:buFont typeface="Arial"/>
              <a:buNone/>
            </a:pPr>
            <a:r>
              <a:rPr lang="en-GB"/>
              <a:t>The Time Complexity of an algorithm is an estimate of the amount of time it takes to execute for a given input size. This amount of time depends on the number of steps needed to be performed by the computer to run the algorithm for that input. </a:t>
            </a:r>
            <a:endParaRPr/>
          </a:p>
          <a:p>
            <a:pPr indent="0" lvl="0" marL="0" rtl="0" algn="l">
              <a:lnSpc>
                <a:spcPct val="100000"/>
              </a:lnSpc>
              <a:spcBef>
                <a:spcPts val="0"/>
              </a:spcBef>
              <a:spcAft>
                <a:spcPts val="0"/>
              </a:spcAft>
              <a:buClr>
                <a:srgbClr val="000000"/>
              </a:buClr>
              <a:buFont typeface="Arial"/>
              <a:buNone/>
            </a:pPr>
            <a:r>
              <a:rPr lang="en-GB"/>
              <a:t>Hence Time Complexity is the number of steps required to compute the output for the worst case scenario. Time Complexity of an algorithm/program is usually represented in the Big O Notation.</a:t>
            </a:r>
            <a:endParaRPr/>
          </a:p>
          <a:p>
            <a:pPr indent="0" lvl="0" marL="0" rtl="0" algn="l">
              <a:lnSpc>
                <a:spcPct val="100000"/>
              </a:lnSpc>
              <a:spcBef>
                <a:spcPts val="0"/>
              </a:spcBef>
              <a:spcAft>
                <a:spcPts val="0"/>
              </a:spcAft>
              <a:buClr>
                <a:srgbClr val="000000"/>
              </a:buClr>
              <a:buFont typeface="Arial"/>
              <a:buNone/>
            </a:pPr>
            <a:r>
              <a:rPr lang="en-GB"/>
              <a:t>In coding competitions on Codeforces the number of steps should not exceed 10^8 (10^7 to be on the safe side) as the time limit for  the questions is usually 1 second.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Clr>
                <a:srgbClr val="262626"/>
              </a:buClr>
              <a:buSzPts val="4400"/>
              <a:buFont typeface="Arial"/>
              <a:buNone/>
            </a:pPr>
            <a:r>
              <a:rPr lang="en-GB" sz="2500"/>
              <a:t>Big O Notation</a:t>
            </a:r>
            <a:endParaRPr sz="2500"/>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GB"/>
              <a:t>The Big O Notation is used to represent the Time Complexity of an algorithm.</a:t>
            </a:r>
            <a:endParaRPr/>
          </a:p>
          <a:p>
            <a:pPr indent="0" lvl="0" marL="0" rtl="0" algn="l">
              <a:lnSpc>
                <a:spcPct val="100000"/>
              </a:lnSpc>
              <a:spcBef>
                <a:spcPts val="0"/>
              </a:spcBef>
              <a:spcAft>
                <a:spcPts val="0"/>
              </a:spcAft>
              <a:buNone/>
            </a:pPr>
            <a:r>
              <a:rPr lang="en-GB"/>
              <a:t>The time complexity of an algorithm which takes a constant number of steps to execute is denoted by O(1).For an algorithm in which number of steps required is proportional to the size of input the time complexity is denoted by O(n).</a:t>
            </a:r>
            <a:endParaRPr/>
          </a:p>
          <a:p>
            <a:pPr indent="0" lvl="0" marL="0" rtl="0" algn="l">
              <a:lnSpc>
                <a:spcPct val="100000"/>
              </a:lnSpc>
              <a:spcBef>
                <a:spcPts val="0"/>
              </a:spcBef>
              <a:spcAft>
                <a:spcPts val="0"/>
              </a:spcAft>
              <a:buNone/>
            </a:pPr>
            <a:r>
              <a:rPr lang="en-GB"/>
              <a:t>Similarly if number of steps is proportional to square of size of input  the time complexity is denoted by O(n*n).</a:t>
            </a:r>
            <a:endParaRPr/>
          </a:p>
          <a:p>
            <a:pPr indent="0" lvl="0" marL="0" rtl="0" algn="l">
              <a:lnSpc>
                <a:spcPct val="100000"/>
              </a:lnSpc>
              <a:spcBef>
                <a:spcPts val="0"/>
              </a:spcBef>
              <a:spcAft>
                <a:spcPts val="0"/>
              </a:spcAft>
              <a:buNone/>
            </a:pPr>
            <a:r>
              <a:t/>
            </a:r>
            <a:endParaRPr sz="24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None/>
            </a:pPr>
            <a:r>
              <a:rPr lang="en-GB" sz="2750"/>
              <a:t>Note!!!</a:t>
            </a:r>
            <a:endParaRPr sz="2750"/>
          </a:p>
          <a:p>
            <a:pPr indent="0" lvl="0" marL="0" rtl="0" algn="l">
              <a:lnSpc>
                <a:spcPct val="90000"/>
              </a:lnSpc>
              <a:spcBef>
                <a:spcPts val="0"/>
              </a:spcBef>
              <a:spcAft>
                <a:spcPts val="0"/>
              </a:spcAft>
              <a:buNone/>
            </a:pPr>
            <a:r>
              <a:t/>
            </a:r>
            <a:endParaRPr sz="4400">
              <a:solidFill>
                <a:srgbClr val="262626"/>
              </a:solidFill>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lnSpc>
                <a:spcPct val="100000"/>
              </a:lnSpc>
              <a:spcBef>
                <a:spcPts val="0"/>
              </a:spcBef>
              <a:spcAft>
                <a:spcPts val="0"/>
              </a:spcAft>
              <a:buNone/>
            </a:pPr>
            <a:r>
              <a:rPr lang="en-GB" sz="2100"/>
              <a:t>While writing the Big O Notation we ignore all constants.</a:t>
            </a:r>
            <a:endParaRPr sz="2100"/>
          </a:p>
          <a:p>
            <a:pPr indent="0" lvl="0" marL="0" rtl="0" algn="l">
              <a:lnSpc>
                <a:spcPct val="100000"/>
              </a:lnSpc>
              <a:spcBef>
                <a:spcPts val="0"/>
              </a:spcBef>
              <a:spcAft>
                <a:spcPts val="0"/>
              </a:spcAft>
              <a:buNone/>
            </a:pPr>
            <a:r>
              <a:rPr lang="en-GB" sz="2100"/>
              <a:t>For example the Big O Notation for the time complexity of  a program which takes 3*N+6 steps to execute is O(N) .</a:t>
            </a:r>
            <a:endParaRPr sz="2100"/>
          </a:p>
          <a:p>
            <a:pPr indent="0" lvl="0" marL="0" rtl="0" algn="l">
              <a:lnSpc>
                <a:spcPct val="100000"/>
              </a:lnSpc>
              <a:spcBef>
                <a:spcPts val="0"/>
              </a:spcBef>
              <a:spcAft>
                <a:spcPts val="0"/>
              </a:spcAft>
              <a:buNone/>
            </a:pPr>
            <a:r>
              <a:rPr lang="en-GB" sz="2100"/>
              <a:t>Also if a program consists of codes which have different time complexities then the time complexity of the program will be the largest of these time complexities.</a:t>
            </a:r>
            <a:endParaRPr sz="2100"/>
          </a:p>
          <a:p>
            <a:pPr indent="0" lvl="0" marL="0" rtl="0" algn="l">
              <a:lnSpc>
                <a:spcPct val="100000"/>
              </a:lnSpc>
              <a:spcBef>
                <a:spcPts val="0"/>
              </a:spcBef>
              <a:spcAft>
                <a:spcPts val="0"/>
              </a:spcAft>
              <a:buNone/>
            </a:pPr>
            <a:r>
              <a:rPr lang="en-GB" sz="2100"/>
              <a:t>For example if the program consists of codes with Time Complexities O(1),O(n),O(n*n) then the time complexity of the program will be O(n*n).</a:t>
            </a:r>
            <a:endParaRPr sz="2100"/>
          </a:p>
          <a:p>
            <a:pPr indent="0" lvl="0" marL="0" rtl="0" algn="l">
              <a:lnSpc>
                <a:spcPct val="100000"/>
              </a:lnSpc>
              <a:spcBef>
                <a:spcPts val="0"/>
              </a:spcBef>
              <a:spcAft>
                <a:spcPts val="0"/>
              </a:spcAft>
              <a:buNone/>
            </a:pPr>
            <a:r>
              <a:rPr lang="en-GB" sz="2100"/>
              <a:t>If  a program has multiple inputs then each of these inputs come in time complexity equation depending on how the number of steps depends on these inputs.</a:t>
            </a:r>
            <a:endParaRPr sz="2100"/>
          </a:p>
          <a:p>
            <a:pPr indent="0" lvl="0" marL="0" rtl="0" algn="l">
              <a:lnSpc>
                <a:spcPct val="100000"/>
              </a:lnSpc>
              <a:spcBef>
                <a:spcPts val="0"/>
              </a:spcBef>
              <a:spcAft>
                <a:spcPts val="0"/>
              </a:spcAft>
              <a:buNone/>
            </a:pPr>
            <a:r>
              <a:t/>
            </a:r>
            <a:endParaRPr sz="2400">
              <a:solidFill>
                <a:schemeClr val="dk1"/>
              </a:solidFill>
            </a:endParaRPr>
          </a:p>
          <a:p>
            <a:pPr indent="0" lvl="0" marL="0" rtl="0" algn="l">
              <a:lnSpc>
                <a:spcPct val="100000"/>
              </a:lnSpc>
              <a:spcBef>
                <a:spcPts val="0"/>
              </a:spcBef>
              <a:spcAft>
                <a:spcPts val="0"/>
              </a:spcAft>
              <a:buNone/>
            </a:pPr>
            <a:r>
              <a:t/>
            </a:r>
            <a:endParaRPr sz="24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rgbClr val="262626"/>
              </a:buClr>
              <a:buSzPct val="160000"/>
              <a:buFont typeface="Arial"/>
              <a:buNone/>
            </a:pPr>
            <a:r>
              <a:rPr lang="en-GB" sz="2750"/>
              <a:t>Example-1</a:t>
            </a:r>
            <a:endParaRPr sz="2750"/>
          </a:p>
          <a:p>
            <a:pPr indent="0" lvl="0" marL="0" rtl="0" algn="l">
              <a:lnSpc>
                <a:spcPct val="90000"/>
              </a:lnSpc>
              <a:spcBef>
                <a:spcPts val="0"/>
              </a:spcBef>
              <a:spcAft>
                <a:spcPts val="0"/>
              </a:spcAft>
              <a:buNone/>
            </a:pPr>
            <a:r>
              <a:t/>
            </a:r>
            <a:endParaRPr sz="4400">
              <a:solidFill>
                <a:srgbClr val="262626"/>
              </a:solidFill>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rgbClr val="000000"/>
              </a:buClr>
              <a:buFont typeface="Arial"/>
              <a:buNone/>
            </a:pPr>
            <a:r>
              <a:rPr lang="en-GB"/>
              <a:t>The time complexity of the following code is:</a:t>
            </a:r>
            <a:endParaRPr/>
          </a:p>
        </p:txBody>
      </p:sp>
      <p:sp>
        <p:nvSpPr>
          <p:cNvPr id="128" name="Google Shape;128;p25"/>
          <p:cNvSpPr txBox="1"/>
          <p:nvPr/>
        </p:nvSpPr>
        <p:spPr>
          <a:xfrm>
            <a:off x="4778175" y="1681050"/>
            <a:ext cx="3000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2"/>
                </a:solidFill>
              </a:rPr>
              <a:t>O(n) as the total number of steps performed=(number of steps in each iteration*number of iterations)=1*n</a:t>
            </a:r>
            <a:endParaRPr sz="1800">
              <a:solidFill>
                <a:schemeClr val="lt2"/>
              </a:solidFill>
            </a:endParaRPr>
          </a:p>
        </p:txBody>
      </p:sp>
      <p:pic>
        <p:nvPicPr>
          <p:cNvPr id="129" name="Google Shape;129;p25"/>
          <p:cNvPicPr preferRelativeResize="0"/>
          <p:nvPr/>
        </p:nvPicPr>
        <p:blipFill rotWithShape="1">
          <a:blip r:embed="rId3">
            <a:alphaModFix/>
          </a:blip>
          <a:srcRect b="0" l="0" r="0" t="0"/>
          <a:stretch/>
        </p:blipFill>
        <p:spPr>
          <a:xfrm>
            <a:off x="648126" y="1794430"/>
            <a:ext cx="3669101" cy="21325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None/>
            </a:pPr>
            <a:r>
              <a:rPr lang="en-GB" sz="2750"/>
              <a:t>Example-2</a:t>
            </a:r>
            <a:endParaRPr sz="2750"/>
          </a:p>
          <a:p>
            <a:pPr indent="0" lvl="0" marL="0" rtl="0" algn="l">
              <a:lnSpc>
                <a:spcPct val="90000"/>
              </a:lnSpc>
              <a:spcBef>
                <a:spcPts val="0"/>
              </a:spcBef>
              <a:spcAft>
                <a:spcPts val="0"/>
              </a:spcAft>
              <a:buNone/>
            </a:pPr>
            <a:r>
              <a:t/>
            </a:r>
            <a:endParaRPr sz="4400">
              <a:solidFill>
                <a:srgbClr val="262626"/>
              </a:solidFill>
            </a:endParaRPr>
          </a:p>
        </p:txBody>
      </p:sp>
      <p:sp>
        <p:nvSpPr>
          <p:cNvPr id="135" name="Google Shape;135;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GB"/>
              <a:t>The time complexity of the following code is:</a:t>
            </a:r>
            <a:endParaRPr/>
          </a:p>
        </p:txBody>
      </p:sp>
      <p:sp>
        <p:nvSpPr>
          <p:cNvPr id="136" name="Google Shape;136;p26"/>
          <p:cNvSpPr txBox="1"/>
          <p:nvPr/>
        </p:nvSpPr>
        <p:spPr>
          <a:xfrm>
            <a:off x="4807025" y="1596225"/>
            <a:ext cx="30000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2"/>
                </a:solidFill>
              </a:rPr>
              <a:t>O(N*q) where N is the largest possible value of n (considering the worst case scenario).</a:t>
            </a:r>
            <a:endParaRPr sz="1800">
              <a:solidFill>
                <a:schemeClr val="lt2"/>
              </a:solidFill>
            </a:endParaRPr>
          </a:p>
          <a:p>
            <a:pPr indent="0" lvl="0" marL="0" rtl="0" algn="l">
              <a:spcBef>
                <a:spcPts val="0"/>
              </a:spcBef>
              <a:spcAft>
                <a:spcPts val="0"/>
              </a:spcAft>
              <a:buNone/>
            </a:pPr>
            <a:r>
              <a:rPr lang="en-GB" sz="1800">
                <a:solidFill>
                  <a:schemeClr val="lt2"/>
                </a:solidFill>
              </a:rPr>
              <a:t>This is because the inner loop runs for at max N times for each iteration of outer loop.</a:t>
            </a:r>
            <a:endParaRPr sz="1800">
              <a:solidFill>
                <a:schemeClr val="lt2"/>
              </a:solidFill>
            </a:endParaRPr>
          </a:p>
          <a:p>
            <a:pPr indent="0" lvl="0" marL="0" rtl="0" algn="l">
              <a:spcBef>
                <a:spcPts val="0"/>
              </a:spcBef>
              <a:spcAft>
                <a:spcPts val="0"/>
              </a:spcAft>
              <a:buNone/>
            </a:pPr>
            <a:r>
              <a:t/>
            </a:r>
            <a:endParaRPr sz="1800">
              <a:solidFill>
                <a:schemeClr val="lt2"/>
              </a:solidFill>
            </a:endParaRPr>
          </a:p>
        </p:txBody>
      </p:sp>
      <p:pic>
        <p:nvPicPr>
          <p:cNvPr id="137" name="Google Shape;137;p26"/>
          <p:cNvPicPr preferRelativeResize="0"/>
          <p:nvPr/>
        </p:nvPicPr>
        <p:blipFill rotWithShape="1">
          <a:blip r:embed="rId3">
            <a:alphaModFix/>
          </a:blip>
          <a:srcRect b="0" l="0" r="0" t="0"/>
          <a:stretch/>
        </p:blipFill>
        <p:spPr>
          <a:xfrm>
            <a:off x="1045108" y="1740426"/>
            <a:ext cx="2898476" cy="287971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None/>
            </a:pPr>
            <a:r>
              <a:rPr lang="en-GB" sz="2750"/>
              <a:t>Example-3 (</a:t>
            </a:r>
            <a:r>
              <a:rPr lang="en-GB" sz="2000"/>
              <a:t>Alternative of Code given in Example-2</a:t>
            </a:r>
            <a:r>
              <a:rPr lang="en-GB" sz="2750"/>
              <a:t>)</a:t>
            </a:r>
            <a:endParaRPr sz="2750"/>
          </a:p>
          <a:p>
            <a:pPr indent="0" lvl="0" marL="0" rtl="0" algn="l">
              <a:lnSpc>
                <a:spcPct val="90000"/>
              </a:lnSpc>
              <a:spcBef>
                <a:spcPts val="0"/>
              </a:spcBef>
              <a:spcAft>
                <a:spcPts val="0"/>
              </a:spcAft>
              <a:buNone/>
            </a:pPr>
            <a:r>
              <a:t/>
            </a:r>
            <a:endParaRPr sz="4400">
              <a:solidFill>
                <a:srgbClr val="262626"/>
              </a:solidFill>
            </a:endParaRPr>
          </a:p>
        </p:txBody>
      </p:sp>
      <p:sp>
        <p:nvSpPr>
          <p:cNvPr id="143" name="Google Shape;143;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GB"/>
              <a:t>The time complexity of the following code is:</a:t>
            </a:r>
            <a:endParaRPr/>
          </a:p>
        </p:txBody>
      </p:sp>
      <p:sp>
        <p:nvSpPr>
          <p:cNvPr id="144" name="Google Shape;144;p27"/>
          <p:cNvSpPr txBox="1"/>
          <p:nvPr/>
        </p:nvSpPr>
        <p:spPr>
          <a:xfrm>
            <a:off x="4739725" y="1521613"/>
            <a:ext cx="30000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2"/>
                </a:solidFill>
              </a:rPr>
              <a:t>O(N+q) where N is the largest possible value of n (considering the worst case scenario).</a:t>
            </a:r>
            <a:endParaRPr sz="1800">
              <a:solidFill>
                <a:schemeClr val="lt2"/>
              </a:solidFill>
            </a:endParaRPr>
          </a:p>
          <a:p>
            <a:pPr indent="0" lvl="0" marL="0" rtl="0" algn="l">
              <a:spcBef>
                <a:spcPts val="0"/>
              </a:spcBef>
              <a:spcAft>
                <a:spcPts val="0"/>
              </a:spcAft>
              <a:buNone/>
            </a:pPr>
            <a:r>
              <a:rPr lang="en-GB" sz="1800">
                <a:solidFill>
                  <a:schemeClr val="lt2"/>
                </a:solidFill>
              </a:rPr>
              <a:t>This is because the it takes N steps to construct the vector and the second loops runs for q*3 number of steps.</a:t>
            </a:r>
            <a:endParaRPr sz="1800">
              <a:solidFill>
                <a:schemeClr val="lt2"/>
              </a:solidFill>
            </a:endParaRPr>
          </a:p>
        </p:txBody>
      </p:sp>
      <p:pic>
        <p:nvPicPr>
          <p:cNvPr id="145" name="Google Shape;145;p27"/>
          <p:cNvPicPr preferRelativeResize="0"/>
          <p:nvPr/>
        </p:nvPicPr>
        <p:blipFill rotWithShape="1">
          <a:blip r:embed="rId3">
            <a:alphaModFix/>
          </a:blip>
          <a:srcRect b="0" l="0" r="0" t="0"/>
          <a:stretch/>
        </p:blipFill>
        <p:spPr>
          <a:xfrm>
            <a:off x="1431200" y="1699700"/>
            <a:ext cx="1968812" cy="2574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None/>
            </a:pPr>
            <a:r>
              <a:rPr lang="en-GB" sz="2750"/>
              <a:t>Example-4</a:t>
            </a:r>
            <a:endParaRPr sz="2750"/>
          </a:p>
          <a:p>
            <a:pPr indent="0" lvl="0" marL="0" rtl="0" algn="l">
              <a:lnSpc>
                <a:spcPct val="90000"/>
              </a:lnSpc>
              <a:spcBef>
                <a:spcPts val="0"/>
              </a:spcBef>
              <a:spcAft>
                <a:spcPts val="0"/>
              </a:spcAft>
              <a:buNone/>
            </a:pPr>
            <a:r>
              <a:t/>
            </a:r>
            <a:endParaRPr sz="4400">
              <a:solidFill>
                <a:srgbClr val="262626"/>
              </a:solidFill>
            </a:endParaRPr>
          </a:p>
        </p:txBody>
      </p:sp>
      <p:sp>
        <p:nvSpPr>
          <p:cNvPr id="151" name="Google Shape;15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GB"/>
              <a:t>The time complexity of the following code is:</a:t>
            </a:r>
            <a:endParaRPr/>
          </a:p>
        </p:txBody>
      </p:sp>
      <p:sp>
        <p:nvSpPr>
          <p:cNvPr id="152" name="Google Shape;152;p28"/>
          <p:cNvSpPr txBox="1"/>
          <p:nvPr/>
        </p:nvSpPr>
        <p:spPr>
          <a:xfrm>
            <a:off x="4739725" y="1660063"/>
            <a:ext cx="30000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2"/>
                </a:solidFill>
              </a:rPr>
              <a:t>O(n+q) as it takes (ignoring some constants) 2*n steps to create and fill the vector. Also the while loop performs 5*q steps. Ignoring the constants we get the time complexity.</a:t>
            </a:r>
            <a:endParaRPr sz="1800">
              <a:solidFill>
                <a:schemeClr val="lt2"/>
              </a:solidFill>
            </a:endParaRPr>
          </a:p>
          <a:p>
            <a:pPr indent="0" lvl="0" marL="0" rtl="0" algn="l">
              <a:spcBef>
                <a:spcPts val="0"/>
              </a:spcBef>
              <a:spcAft>
                <a:spcPts val="0"/>
              </a:spcAft>
              <a:buNone/>
            </a:pPr>
            <a:r>
              <a:t/>
            </a:r>
            <a:endParaRPr sz="1800">
              <a:solidFill>
                <a:schemeClr val="lt2"/>
              </a:solidFill>
            </a:endParaRPr>
          </a:p>
        </p:txBody>
      </p:sp>
      <p:pic>
        <p:nvPicPr>
          <p:cNvPr id="153" name="Google Shape;153;p28"/>
          <p:cNvPicPr preferRelativeResize="0"/>
          <p:nvPr/>
        </p:nvPicPr>
        <p:blipFill rotWithShape="1">
          <a:blip r:embed="rId3">
            <a:alphaModFix/>
          </a:blip>
          <a:srcRect b="0" l="0" r="0" t="0"/>
          <a:stretch/>
        </p:blipFill>
        <p:spPr>
          <a:xfrm>
            <a:off x="1164957" y="1706476"/>
            <a:ext cx="2421415" cy="3092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Number Theory</a:t>
            </a:r>
            <a:endParaRPr/>
          </a:p>
        </p:txBody>
      </p:sp>
      <p:sp>
        <p:nvSpPr>
          <p:cNvPr id="159" name="Google Shape;159;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Topics covered :</a:t>
            </a:r>
            <a:endParaRPr/>
          </a:p>
          <a:p>
            <a:pPr indent="-342900" lvl="0" marL="457200" rtl="0" algn="l">
              <a:spcBef>
                <a:spcPts val="1200"/>
              </a:spcBef>
              <a:spcAft>
                <a:spcPts val="0"/>
              </a:spcAft>
              <a:buSzPts val="1800"/>
              <a:buAutoNum type="arabicPeriod"/>
            </a:pPr>
            <a:r>
              <a:rPr lang="en-GB"/>
              <a:t>Sieve of Eratosthenes</a:t>
            </a:r>
            <a:endParaRPr/>
          </a:p>
          <a:p>
            <a:pPr indent="-342900" lvl="0" marL="457200" rtl="0" algn="l">
              <a:spcBef>
                <a:spcPts val="0"/>
              </a:spcBef>
              <a:spcAft>
                <a:spcPts val="0"/>
              </a:spcAft>
              <a:buSzPts val="1800"/>
              <a:buAutoNum type="arabicPeriod"/>
            </a:pPr>
            <a:r>
              <a:rPr lang="en-GB"/>
              <a:t>Prime Factorization</a:t>
            </a:r>
            <a:endParaRPr/>
          </a:p>
          <a:p>
            <a:pPr indent="-342900" lvl="0" marL="457200" rtl="0" algn="l">
              <a:spcBef>
                <a:spcPts val="0"/>
              </a:spcBef>
              <a:spcAft>
                <a:spcPts val="0"/>
              </a:spcAft>
              <a:buSzPts val="1800"/>
              <a:buAutoNum type="arabicPeriod"/>
            </a:pPr>
            <a:r>
              <a:rPr lang="en-GB"/>
              <a:t>Modular Arithmetic</a:t>
            </a:r>
            <a:endParaRPr/>
          </a:p>
          <a:p>
            <a:pPr indent="-342900" lvl="0" marL="457200" rtl="0" algn="l">
              <a:spcBef>
                <a:spcPts val="0"/>
              </a:spcBef>
              <a:spcAft>
                <a:spcPts val="0"/>
              </a:spcAft>
              <a:buSzPts val="1800"/>
              <a:buAutoNum type="arabicPeriod"/>
            </a:pPr>
            <a:r>
              <a:rPr lang="en-GB"/>
              <a:t>Modular inverse</a:t>
            </a:r>
            <a:endParaRPr/>
          </a:p>
          <a:p>
            <a:pPr indent="-342900" lvl="0" marL="457200" rtl="0" algn="l">
              <a:spcBef>
                <a:spcPts val="0"/>
              </a:spcBef>
              <a:spcAft>
                <a:spcPts val="0"/>
              </a:spcAft>
              <a:buSzPts val="1800"/>
              <a:buAutoNum type="arabicPeriod"/>
            </a:pPr>
            <a:r>
              <a:rPr lang="en-GB"/>
              <a:t>Why do we need Modular Arithmetic?</a:t>
            </a:r>
            <a:endParaRPr/>
          </a:p>
          <a:p>
            <a:pPr indent="-342900" lvl="0" marL="457200" rtl="0" algn="l">
              <a:spcBef>
                <a:spcPts val="0"/>
              </a:spcBef>
              <a:spcAft>
                <a:spcPts val="0"/>
              </a:spcAft>
              <a:buSzPts val="1800"/>
              <a:buAutoNum type="arabicPeriod"/>
            </a:pPr>
            <a:r>
              <a:rPr lang="en-GB"/>
              <a:t>Fermat’s Theorem</a:t>
            </a:r>
            <a:endParaRPr/>
          </a:p>
          <a:p>
            <a:pPr indent="-342900" lvl="0" marL="457200" rtl="0" algn="l">
              <a:spcBef>
                <a:spcPts val="0"/>
              </a:spcBef>
              <a:spcAft>
                <a:spcPts val="0"/>
              </a:spcAft>
              <a:buSzPts val="1800"/>
              <a:buAutoNum type="arabicPeriod"/>
            </a:pPr>
            <a:r>
              <a:rPr lang="en-GB"/>
              <a:t>Binary Exponentiation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Sieve of Eratosthenes</a:t>
            </a:r>
            <a:endParaRPr/>
          </a:p>
        </p:txBody>
      </p:sp>
      <p:sp>
        <p:nvSpPr>
          <p:cNvPr id="165" name="Google Shape;165;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GB"/>
              <a:t>It is a pre computational algorithm to build an array of length n, through which we can easily check whether a number k (2≤k≤n) is prime or not. </a:t>
            </a:r>
            <a:r>
              <a:rPr lang="en-GB"/>
              <a:t>The algorithm builds an array sieve whose positions 2,3,...,n are used. The value sieve[k] = 0 means that k is prime, and the value sieve[k] ≠ 0 means that k is not a prime and one of its prime factors is sieve[k].</a:t>
            </a:r>
            <a:endParaRPr/>
          </a:p>
          <a:p>
            <a:pPr indent="0" lvl="0" marL="0" rtl="0" algn="l">
              <a:lnSpc>
                <a:spcPct val="115000"/>
              </a:lnSpc>
              <a:spcBef>
                <a:spcPts val="0"/>
              </a:spcBef>
              <a:spcAft>
                <a:spcPts val="0"/>
              </a:spcAft>
              <a:buNone/>
            </a:pPr>
            <a:r>
              <a:rPr lang="en-GB"/>
              <a:t>The algorithm iterates through the numbers 2...n one by one. Always when a new prime x is found, the algorithm records that the multiples of x (2x,3x,4x,...) are not primes, because the number x divides them.</a:t>
            </a:r>
            <a:endParaRPr/>
          </a:p>
          <a:p>
            <a:pPr indent="0" lvl="0" marL="0" rtl="0" algn="l">
              <a:spcBef>
                <a:spcPts val="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Prime factorization</a:t>
            </a:r>
            <a:endParaRPr/>
          </a:p>
        </p:txBody>
      </p:sp>
      <p:sp>
        <p:nvSpPr>
          <p:cNvPr id="171" name="Google Shape;171;p31"/>
          <p:cNvSpPr txBox="1"/>
          <p:nvPr>
            <p:ph idx="1" type="body"/>
          </p:nvPr>
        </p:nvSpPr>
        <p:spPr>
          <a:xfrm>
            <a:off x="311700" y="3212975"/>
            <a:ext cx="8520600" cy="1520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If </a:t>
            </a:r>
            <a:r>
              <a:rPr i="1" lang="en-GB"/>
              <a:t>a</a:t>
            </a:r>
            <a:r>
              <a:rPr lang="en-GB"/>
              <a:t> number a when divided by </a:t>
            </a:r>
            <a:r>
              <a:rPr i="1" lang="en-GB"/>
              <a:t>m</a:t>
            </a:r>
            <a:r>
              <a:rPr lang="en-GB"/>
              <a:t> gives a remainder </a:t>
            </a:r>
            <a:r>
              <a:rPr i="1" lang="en-GB"/>
              <a:t>r</a:t>
            </a:r>
            <a:r>
              <a:rPr lang="en-GB"/>
              <a:t>, then in modulo arithmetic we write it as:  </a:t>
            </a:r>
            <a:r>
              <a:rPr i="1" lang="en-GB"/>
              <a:t>a</a:t>
            </a:r>
            <a:r>
              <a:rPr lang="en-GB"/>
              <a:t> = </a:t>
            </a:r>
            <a:r>
              <a:rPr i="1" lang="en-GB"/>
              <a:t>r </a:t>
            </a:r>
            <a:r>
              <a:rPr lang="en-GB"/>
              <a:t>(mod </a:t>
            </a:r>
            <a:r>
              <a:rPr i="1" lang="en-GB"/>
              <a:t>m</a:t>
            </a:r>
            <a:r>
              <a:rPr lang="en-GB"/>
              <a:t>)</a:t>
            </a:r>
            <a:endParaRPr/>
          </a:p>
          <a:p>
            <a:pPr indent="0" lvl="0" marL="0" rtl="0" algn="l">
              <a:spcBef>
                <a:spcPts val="1200"/>
              </a:spcBef>
              <a:spcAft>
                <a:spcPts val="0"/>
              </a:spcAft>
              <a:buNone/>
            </a:pPr>
            <a:r>
              <a:rPr lang="en-GB"/>
              <a:t>It can be easily be proved that if a = p (mod m) and b = q (mod m), </a:t>
            </a:r>
            <a:endParaRPr/>
          </a:p>
          <a:p>
            <a:pPr indent="0" lvl="0" marL="0" rtl="0" algn="l">
              <a:spcBef>
                <a:spcPts val="1200"/>
              </a:spcBef>
              <a:spcAft>
                <a:spcPts val="1200"/>
              </a:spcAft>
              <a:buNone/>
            </a:pPr>
            <a:r>
              <a:rPr lang="en-GB"/>
              <a:t>then a*b = p*q (mod m). This property is used to simplify remainder calculations.</a:t>
            </a:r>
            <a:endParaRPr/>
          </a:p>
        </p:txBody>
      </p:sp>
      <p:sp>
        <p:nvSpPr>
          <p:cNvPr id="172" name="Google Shape;172;p31"/>
          <p:cNvSpPr txBox="1"/>
          <p:nvPr>
            <p:ph type="title"/>
          </p:nvPr>
        </p:nvSpPr>
        <p:spPr>
          <a:xfrm>
            <a:off x="311700" y="2589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Modulo Arithmetic</a:t>
            </a:r>
            <a:endParaRPr/>
          </a:p>
        </p:txBody>
      </p:sp>
      <p:sp>
        <p:nvSpPr>
          <p:cNvPr id="173" name="Google Shape;173;p31"/>
          <p:cNvSpPr txBox="1"/>
          <p:nvPr>
            <p:ph idx="1" type="body"/>
          </p:nvPr>
        </p:nvSpPr>
        <p:spPr>
          <a:xfrm>
            <a:off x="433125" y="1017725"/>
            <a:ext cx="8520600" cy="152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Every number N can be written as a product of its prime factors as </a:t>
            </a:r>
            <a:endParaRPr/>
          </a:p>
          <a:p>
            <a:pPr indent="0" lvl="0" marL="0" rtl="0" algn="ctr">
              <a:spcBef>
                <a:spcPts val="1200"/>
              </a:spcBef>
              <a:spcAft>
                <a:spcPts val="0"/>
              </a:spcAft>
              <a:buNone/>
            </a:pPr>
            <a:r>
              <a:rPr lang="en-GB"/>
              <a:t>N = (p1^a1).(p2^a2).....(pk^ak)</a:t>
            </a:r>
            <a:endParaRPr/>
          </a:p>
          <a:p>
            <a:pPr indent="0" lvl="0" marL="0" rtl="0" algn="l">
              <a:spcBef>
                <a:spcPts val="1200"/>
              </a:spcBef>
              <a:spcAft>
                <a:spcPts val="1200"/>
              </a:spcAft>
              <a:buNone/>
            </a:pPr>
            <a:r>
              <a:rPr lang="en-GB"/>
              <a:t>We can write an algorithm to write prime factorisation of any number.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311700" y="2532775"/>
            <a:ext cx="8520600" cy="537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Why do we need Modular arithmetic?</a:t>
            </a:r>
            <a:endParaRPr/>
          </a:p>
        </p:txBody>
      </p:sp>
      <p:sp>
        <p:nvSpPr>
          <p:cNvPr id="179" name="Google Shape;179;p32"/>
          <p:cNvSpPr txBox="1"/>
          <p:nvPr>
            <p:ph idx="1" type="body"/>
          </p:nvPr>
        </p:nvSpPr>
        <p:spPr>
          <a:xfrm>
            <a:off x="311700" y="3070085"/>
            <a:ext cx="8520600" cy="2128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i="1" lang="en-GB" sz="1700"/>
              <a:t>i</a:t>
            </a:r>
            <a:r>
              <a:rPr i="1" lang="en-GB" sz="1700"/>
              <a:t>nt</a:t>
            </a:r>
            <a:r>
              <a:rPr lang="en-GB" sz="1700"/>
              <a:t> data type can only store integers in the range -2^31 to 2^31 -1. 2^31 is approx 2e9. Even if use </a:t>
            </a:r>
            <a:r>
              <a:rPr i="1" lang="en-GB" sz="1700"/>
              <a:t>long long int</a:t>
            </a:r>
            <a:r>
              <a:rPr lang="en-GB" sz="1700"/>
              <a:t> data type we can only use numbers upto the order of 10e18. For such large numbers answer is reported generally as a remainder of some large divisor (like 1e9 +7). So if answer is N, and N = x (mod M), we report x as our ans.</a:t>
            </a:r>
            <a:r>
              <a:rPr lang="en-GB" sz="1700"/>
              <a:t> </a:t>
            </a:r>
            <a:endParaRPr sz="1700"/>
          </a:p>
        </p:txBody>
      </p:sp>
      <p:sp>
        <p:nvSpPr>
          <p:cNvPr id="180" name="Google Shape;180;p32"/>
          <p:cNvSpPr txBox="1"/>
          <p:nvPr>
            <p:ph type="title"/>
          </p:nvPr>
        </p:nvSpPr>
        <p:spPr>
          <a:xfrm>
            <a:off x="311700" y="237425"/>
            <a:ext cx="8520600" cy="537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Modular inverse</a:t>
            </a:r>
            <a:endParaRPr/>
          </a:p>
        </p:txBody>
      </p:sp>
      <p:sp>
        <p:nvSpPr>
          <p:cNvPr id="181" name="Google Shape;181;p32"/>
          <p:cNvSpPr txBox="1"/>
          <p:nvPr>
            <p:ph idx="1" type="body"/>
          </p:nvPr>
        </p:nvSpPr>
        <p:spPr>
          <a:xfrm>
            <a:off x="311700" y="774728"/>
            <a:ext cx="8520600" cy="1479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en-GB" sz="1660"/>
              <a:t>If x*y = 1 (mod m), then x and y are called modular inverse of each other. </a:t>
            </a:r>
            <a:r>
              <a:rPr lang="en-GB" sz="1660"/>
              <a:t>For example, if x = 6 and m = 17, then y = 3, because 6*3 mod 17 = 1. Using modular inverses, we can divide numbers modulo m, because division by x corresponds to multiplication by x</a:t>
            </a:r>
            <a:r>
              <a:rPr baseline="30000" lang="en-GB" sz="1660"/>
              <a:t>-1</a:t>
            </a:r>
            <a:r>
              <a:rPr lang="en-GB" sz="1660"/>
              <a:t>.</a:t>
            </a:r>
            <a:endParaRPr sz="1660"/>
          </a:p>
          <a:p>
            <a:pPr indent="0" lvl="0" marL="0" rtl="0" algn="l">
              <a:lnSpc>
                <a:spcPct val="95000"/>
              </a:lnSpc>
              <a:spcBef>
                <a:spcPts val="1200"/>
              </a:spcBef>
              <a:spcAft>
                <a:spcPts val="0"/>
              </a:spcAft>
              <a:buSzPts val="770"/>
              <a:buNone/>
            </a:pPr>
            <a:r>
              <a:rPr lang="en-GB" sz="1660"/>
              <a:t> For eg. 210/6 mod 17 = (210 mod 17) * (6</a:t>
            </a:r>
            <a:r>
              <a:rPr baseline="30000" lang="en-GB" sz="1660"/>
              <a:t>-1</a:t>
            </a:r>
            <a:r>
              <a:rPr lang="en-GB" sz="1660"/>
              <a:t> mod 17) = 6*3 mod 17 = 1.</a:t>
            </a:r>
            <a:endParaRPr sz="1660"/>
          </a:p>
          <a:p>
            <a:pPr indent="0" lvl="0" marL="0" rtl="0" algn="l">
              <a:lnSpc>
                <a:spcPct val="95000"/>
              </a:lnSpc>
              <a:spcBef>
                <a:spcPts val="1200"/>
              </a:spcBef>
              <a:spcAft>
                <a:spcPts val="1200"/>
              </a:spcAft>
              <a:buSzPts val="770"/>
              <a:buNone/>
            </a:pPr>
            <a:r>
              <a:rPr lang="en-GB" sz="1660"/>
              <a:t>This can be used to write function for evaluating  </a:t>
            </a:r>
            <a:r>
              <a:rPr baseline="30000" lang="en-GB" sz="1660"/>
              <a:t>n</a:t>
            </a:r>
            <a:r>
              <a:rPr lang="en-GB" sz="1660"/>
              <a:t>C</a:t>
            </a:r>
            <a:r>
              <a:rPr baseline="-25000" lang="en-GB" sz="1660"/>
              <a:t>r</a:t>
            </a:r>
            <a:r>
              <a:rPr lang="en-GB" sz="1660"/>
              <a:t> mod m. </a:t>
            </a:r>
            <a:endParaRPr sz="166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Fermat’s Theorem</a:t>
            </a:r>
            <a:endParaRPr/>
          </a:p>
        </p:txBody>
      </p:sp>
      <p:sp>
        <p:nvSpPr>
          <p:cNvPr id="187" name="Google Shape;187;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100"/>
              <a:t>Fermat’s theorem states that if p is a prime number, then for any number a such that a and p are coprime, a</a:t>
            </a:r>
            <a:r>
              <a:rPr baseline="30000" lang="en-GB" sz="2100"/>
              <a:t>p-1</a:t>
            </a:r>
            <a:r>
              <a:rPr lang="en-GB" sz="2100"/>
              <a:t> mod p =1. </a:t>
            </a:r>
            <a:endParaRPr sz="2100"/>
          </a:p>
          <a:p>
            <a:pPr indent="0" lvl="0" marL="0" rtl="0" algn="l">
              <a:spcBef>
                <a:spcPts val="1200"/>
              </a:spcBef>
              <a:spcAft>
                <a:spcPts val="0"/>
              </a:spcAft>
              <a:buNone/>
            </a:pPr>
            <a:r>
              <a:rPr lang="en-GB" sz="2100"/>
              <a:t>This theorem can be used to calculate x</a:t>
            </a:r>
            <a:r>
              <a:rPr baseline="30000" lang="en-GB" sz="2100"/>
              <a:t>-1</a:t>
            </a:r>
            <a:r>
              <a:rPr lang="en-GB" sz="2100"/>
              <a:t>. </a:t>
            </a:r>
            <a:endParaRPr sz="2100"/>
          </a:p>
          <a:p>
            <a:pPr indent="0" lvl="0" marL="0" rtl="0" algn="l">
              <a:spcBef>
                <a:spcPts val="1200"/>
              </a:spcBef>
              <a:spcAft>
                <a:spcPts val="0"/>
              </a:spcAft>
              <a:buNone/>
            </a:pPr>
            <a:r>
              <a:rPr lang="en-GB" sz="2100"/>
              <a:t>x</a:t>
            </a:r>
            <a:r>
              <a:rPr baseline="30000" lang="en-GB" sz="2100"/>
              <a:t>p-1 </a:t>
            </a:r>
            <a:r>
              <a:rPr lang="en-GB" sz="2100"/>
              <a:t>= x * x</a:t>
            </a:r>
            <a:r>
              <a:rPr baseline="30000" lang="en-GB" sz="2100"/>
              <a:t>p-2</a:t>
            </a:r>
            <a:r>
              <a:rPr lang="en-GB" sz="2100"/>
              <a:t> </a:t>
            </a:r>
            <a:endParaRPr sz="2100"/>
          </a:p>
          <a:p>
            <a:pPr indent="0" lvl="0" marL="0" rtl="0" algn="l">
              <a:spcBef>
                <a:spcPts val="1200"/>
              </a:spcBef>
              <a:spcAft>
                <a:spcPts val="0"/>
              </a:spcAft>
              <a:buNone/>
            </a:pPr>
            <a:r>
              <a:rPr lang="en-GB" sz="2100"/>
              <a:t>and since x</a:t>
            </a:r>
            <a:r>
              <a:rPr baseline="30000" lang="en-GB" sz="2100"/>
              <a:t>p-1</a:t>
            </a:r>
            <a:r>
              <a:rPr lang="en-GB" sz="2100"/>
              <a:t> mod p =1,   x * x</a:t>
            </a:r>
            <a:r>
              <a:rPr baseline="30000" lang="en-GB" sz="2100"/>
              <a:t>p-2</a:t>
            </a:r>
            <a:r>
              <a:rPr lang="en-GB" sz="2100"/>
              <a:t> mod p =1</a:t>
            </a:r>
            <a:endParaRPr sz="2100"/>
          </a:p>
          <a:p>
            <a:pPr indent="0" lvl="0" marL="0" rtl="0" algn="l">
              <a:spcBef>
                <a:spcPts val="1200"/>
              </a:spcBef>
              <a:spcAft>
                <a:spcPts val="1200"/>
              </a:spcAft>
              <a:buNone/>
            </a:pPr>
            <a:r>
              <a:rPr lang="en-GB" sz="2100"/>
              <a:t>Hence x</a:t>
            </a:r>
            <a:r>
              <a:rPr baseline="30000" lang="en-GB" sz="2100"/>
              <a:t>-1</a:t>
            </a:r>
            <a:r>
              <a:rPr lang="en-GB" sz="2100"/>
              <a:t> = x</a:t>
            </a:r>
            <a:r>
              <a:rPr baseline="30000" lang="en-GB" sz="2100"/>
              <a:t>p-2</a:t>
            </a:r>
            <a:r>
              <a:rPr lang="en-GB" sz="2100"/>
              <a:t>.</a:t>
            </a:r>
            <a:endParaRPr sz="2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Binary exponentiation</a:t>
            </a:r>
            <a:endParaRPr/>
          </a:p>
        </p:txBody>
      </p:sp>
      <p:sp>
        <p:nvSpPr>
          <p:cNvPr id="193" name="Google Shape;193;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Binary exponentiation (also known as exponentiation by squaring) is a trick which allows us to calculate a</a:t>
            </a:r>
            <a:r>
              <a:rPr baseline="30000" lang="en-GB"/>
              <a:t>n</a:t>
            </a:r>
            <a:r>
              <a:rPr lang="en-GB"/>
              <a:t> in an efficient manner. (Time Complexity: O(logn))</a:t>
            </a:r>
            <a:endParaRPr/>
          </a:p>
          <a:p>
            <a:pPr indent="0" lvl="0" marL="0" rtl="0" algn="l">
              <a:spcBef>
                <a:spcPts val="1200"/>
              </a:spcBef>
              <a:spcAft>
                <a:spcPts val="0"/>
              </a:spcAft>
              <a:buNone/>
            </a:pPr>
            <a:r>
              <a:rPr lang="en-GB"/>
              <a:t>Let us understand this by an example. To calculate 3</a:t>
            </a:r>
            <a:r>
              <a:rPr baseline="30000" lang="en-GB"/>
              <a:t>13</a:t>
            </a:r>
            <a:r>
              <a:rPr lang="en-GB"/>
              <a:t>, we can write 13 as 8+4+1, i.e. in powers of two (binary representation). Then 3</a:t>
            </a:r>
            <a:r>
              <a:rPr baseline="30000" lang="en-GB"/>
              <a:t>13</a:t>
            </a:r>
            <a:r>
              <a:rPr lang="en-GB"/>
              <a:t> = 3</a:t>
            </a:r>
            <a:r>
              <a:rPr baseline="30000" lang="en-GB"/>
              <a:t>8</a:t>
            </a:r>
            <a:r>
              <a:rPr lang="en-GB"/>
              <a:t> *3</a:t>
            </a:r>
            <a:r>
              <a:rPr baseline="30000" lang="en-GB"/>
              <a:t>4 </a:t>
            </a:r>
            <a:r>
              <a:rPr lang="en-GB"/>
              <a:t>*3</a:t>
            </a:r>
            <a:r>
              <a:rPr baseline="30000" lang="en-GB"/>
              <a:t>1</a:t>
            </a:r>
            <a:r>
              <a:rPr lang="en-GB"/>
              <a:t>. So to calculate 3</a:t>
            </a:r>
            <a:r>
              <a:rPr baseline="30000" lang="en-GB"/>
              <a:t>13</a:t>
            </a:r>
            <a:r>
              <a:rPr lang="en-GB"/>
              <a:t> we have to only compute powers of 3 upto 3</a:t>
            </a:r>
            <a:r>
              <a:rPr baseline="30000" lang="en-GB"/>
              <a:t>8</a:t>
            </a:r>
            <a:r>
              <a:rPr lang="en-GB"/>
              <a:t>, and then do 3 multiplications. Naive solution to this would have been to multiply 3 eighteen times, which would take O(n) time.</a:t>
            </a:r>
            <a:endParaRPr/>
          </a:p>
          <a:p>
            <a:pPr indent="0" lvl="0" marL="0" rtl="0" algn="l">
              <a:spcBef>
                <a:spcPts val="1200"/>
              </a:spcBef>
              <a:spcAft>
                <a:spcPts val="1200"/>
              </a:spcAft>
              <a:buNone/>
            </a:pPr>
            <a:r>
              <a:rPr lang="en-GB"/>
              <a:t>This method can be used to evaluate modulo of large exponents efficiently.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Contests:-</a:t>
            </a:r>
            <a:endParaRPr/>
          </a:p>
        </p:txBody>
      </p:sp>
      <p:sp>
        <p:nvSpPr>
          <p:cNvPr id="199" name="Google Shape;199;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Contest 1:-  Contest today(21/5/23)-1pm to midnight 11:59 pm </a:t>
            </a:r>
            <a:r>
              <a:rPr lang="en-GB" u="sng">
                <a:solidFill>
                  <a:schemeClr val="hlink"/>
                </a:solidFill>
                <a:hlinkClick r:id="rId3"/>
              </a:rPr>
              <a:t>https://codeforces.com/contestInvitation/2546dfdada8bd9448bf837da2cbaa0d133049803</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Contest 2:- </a:t>
            </a:r>
            <a:r>
              <a:rPr lang="en-GB" u="sng">
                <a:solidFill>
                  <a:schemeClr val="hlink"/>
                </a:solidFill>
                <a:hlinkClick r:id="rId4"/>
              </a:rPr>
              <a:t>https://codeforces.com/contestInvitation/be3a7e110d97d27bebc6a28b5cd05b7832d9c894</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Contest 3:- </a:t>
            </a:r>
            <a:r>
              <a:rPr lang="en-GB" u="sng">
                <a:solidFill>
                  <a:schemeClr val="accent5"/>
                </a:solidFill>
                <a:hlinkClick r:id="rId5">
                  <a:extLst>
                    <a:ext uri="{A12FA001-AC4F-418D-AE19-62706E023703}">
                      <ahyp:hlinkClr val="tx"/>
                    </a:ext>
                  </a:extLst>
                </a:hlinkClick>
              </a:rPr>
              <a:t>https://codeforces.com/contestInvitation/4a43f065ec1d645d1e60ab855b12b7fe1a47c55b</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Solutions to contests:-</a:t>
            </a:r>
            <a:endParaRPr/>
          </a:p>
        </p:txBody>
      </p:sp>
      <p:sp>
        <p:nvSpPr>
          <p:cNvPr id="205" name="Google Shape;205;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523"/>
              <a:buNone/>
            </a:pPr>
            <a:r>
              <a:rPr lang="en-GB" sz="1455"/>
              <a:t>Contest-1 solution</a:t>
            </a:r>
            <a:endParaRPr sz="1455"/>
          </a:p>
          <a:p>
            <a:pPr indent="0" lvl="0" marL="0" rtl="0" algn="l">
              <a:lnSpc>
                <a:spcPct val="95000"/>
              </a:lnSpc>
              <a:spcBef>
                <a:spcPts val="1200"/>
              </a:spcBef>
              <a:spcAft>
                <a:spcPts val="0"/>
              </a:spcAft>
              <a:buSzPts val="523"/>
              <a:buNone/>
            </a:pPr>
            <a:r>
              <a:rPr lang="en-GB" sz="1455" u="sng">
                <a:solidFill>
                  <a:schemeClr val="hlink"/>
                </a:solidFill>
                <a:hlinkClick r:id="rId3"/>
              </a:rPr>
              <a:t>https://drive.google.com/drive/folders/1qo05kgUnikQ1jBeSgVGkR__80wanNb7H?usp=sharing</a:t>
            </a:r>
            <a:endParaRPr sz="1455"/>
          </a:p>
          <a:p>
            <a:pPr indent="0" lvl="0" marL="0" rtl="0" algn="l">
              <a:lnSpc>
                <a:spcPct val="95000"/>
              </a:lnSpc>
              <a:spcBef>
                <a:spcPts val="1200"/>
              </a:spcBef>
              <a:spcAft>
                <a:spcPts val="0"/>
              </a:spcAft>
              <a:buSzPts val="523"/>
              <a:buNone/>
            </a:pPr>
            <a:r>
              <a:rPr lang="en-GB" sz="1455"/>
              <a:t>Contest 3 solution :-</a:t>
            </a:r>
            <a:endParaRPr sz="1455"/>
          </a:p>
          <a:p>
            <a:pPr indent="0" lvl="0" marL="0" rtl="0" algn="l">
              <a:lnSpc>
                <a:spcPct val="95000"/>
              </a:lnSpc>
              <a:spcBef>
                <a:spcPts val="1200"/>
              </a:spcBef>
              <a:spcAft>
                <a:spcPts val="0"/>
              </a:spcAft>
              <a:buSzPts val="523"/>
              <a:buNone/>
            </a:pPr>
            <a:r>
              <a:rPr lang="en-GB" sz="1455"/>
              <a:t>Que 1: </a:t>
            </a:r>
            <a:endParaRPr sz="1455"/>
          </a:p>
          <a:p>
            <a:pPr indent="0" lvl="0" marL="0" rtl="0" algn="l">
              <a:lnSpc>
                <a:spcPct val="95000"/>
              </a:lnSpc>
              <a:spcBef>
                <a:spcPts val="1200"/>
              </a:spcBef>
              <a:spcAft>
                <a:spcPts val="0"/>
              </a:spcAft>
              <a:buSzPts val="523"/>
              <a:buNone/>
            </a:pPr>
            <a:r>
              <a:rPr lang="en-GB" sz="1455" u="sng">
                <a:solidFill>
                  <a:schemeClr val="hlink"/>
                </a:solidFill>
                <a:hlinkClick r:id="rId4"/>
              </a:rPr>
              <a:t>https://discord.com/channels/1104019359577428050/1120791963059363920/1121059672263245914</a:t>
            </a:r>
            <a:endParaRPr sz="1455"/>
          </a:p>
          <a:p>
            <a:pPr indent="0" lvl="0" marL="0" rtl="0" algn="l">
              <a:lnSpc>
                <a:spcPct val="95000"/>
              </a:lnSpc>
              <a:spcBef>
                <a:spcPts val="1200"/>
              </a:spcBef>
              <a:spcAft>
                <a:spcPts val="0"/>
              </a:spcAft>
              <a:buSzPts val="523"/>
              <a:buNone/>
            </a:pPr>
            <a:r>
              <a:rPr lang="en-GB" sz="1455"/>
              <a:t>Que 2:</a:t>
            </a:r>
            <a:endParaRPr sz="1455"/>
          </a:p>
          <a:p>
            <a:pPr indent="0" lvl="0" marL="0" rtl="0" algn="l">
              <a:lnSpc>
                <a:spcPct val="95000"/>
              </a:lnSpc>
              <a:spcBef>
                <a:spcPts val="1200"/>
              </a:spcBef>
              <a:spcAft>
                <a:spcPts val="0"/>
              </a:spcAft>
              <a:buSzPts val="523"/>
              <a:buNone/>
            </a:pPr>
            <a:r>
              <a:rPr lang="en-GB" sz="1455" u="sng">
                <a:solidFill>
                  <a:schemeClr val="hlink"/>
                </a:solidFill>
                <a:hlinkClick r:id="rId5"/>
              </a:rPr>
              <a:t>https://discord.com/channels/1104019359577428050/1120792034970714245/1121059692962128026</a:t>
            </a:r>
            <a:endParaRPr sz="1455"/>
          </a:p>
          <a:p>
            <a:pPr indent="0" lvl="0" marL="0" rtl="0" algn="l">
              <a:lnSpc>
                <a:spcPct val="95000"/>
              </a:lnSpc>
              <a:spcBef>
                <a:spcPts val="1200"/>
              </a:spcBef>
              <a:spcAft>
                <a:spcPts val="0"/>
              </a:spcAft>
              <a:buSzPts val="523"/>
              <a:buNone/>
            </a:pPr>
            <a:r>
              <a:rPr lang="en-GB" sz="1455"/>
              <a:t>Que 3:</a:t>
            </a:r>
            <a:endParaRPr sz="1455"/>
          </a:p>
          <a:p>
            <a:pPr indent="0" lvl="0" marL="0" rtl="0" algn="l">
              <a:lnSpc>
                <a:spcPct val="95000"/>
              </a:lnSpc>
              <a:spcBef>
                <a:spcPts val="1200"/>
              </a:spcBef>
              <a:spcAft>
                <a:spcPts val="0"/>
              </a:spcAft>
              <a:buSzPts val="523"/>
              <a:buNone/>
            </a:pPr>
            <a:r>
              <a:rPr lang="en-GB" sz="1455" u="sng">
                <a:solidFill>
                  <a:schemeClr val="hlink"/>
                </a:solidFill>
                <a:hlinkClick r:id="rId6"/>
              </a:rPr>
              <a:t>https://discord.com/channels/1104019359577428050/1120792034970714245/1121059692962128026</a:t>
            </a:r>
            <a:endParaRPr sz="1455"/>
          </a:p>
          <a:p>
            <a:pPr indent="0" lvl="0" marL="0" rtl="0" algn="l">
              <a:lnSpc>
                <a:spcPct val="95000"/>
              </a:lnSpc>
              <a:spcBef>
                <a:spcPts val="1200"/>
              </a:spcBef>
              <a:spcAft>
                <a:spcPts val="0"/>
              </a:spcAft>
              <a:buSzPts val="523"/>
              <a:buNone/>
            </a:pPr>
            <a:r>
              <a:t/>
            </a:r>
            <a:endParaRPr sz="1455"/>
          </a:p>
          <a:p>
            <a:pPr indent="0" lvl="0" marL="0" rtl="0" algn="l">
              <a:lnSpc>
                <a:spcPct val="95000"/>
              </a:lnSpc>
              <a:spcBef>
                <a:spcPts val="1200"/>
              </a:spcBef>
              <a:spcAft>
                <a:spcPts val="0"/>
              </a:spcAft>
              <a:buSzPts val="523"/>
              <a:buNone/>
            </a:pPr>
            <a:r>
              <a:t/>
            </a:r>
            <a:endParaRPr sz="1455"/>
          </a:p>
          <a:p>
            <a:pPr indent="0" lvl="0" marL="0" rtl="0" algn="l">
              <a:lnSpc>
                <a:spcPct val="95000"/>
              </a:lnSpc>
              <a:spcBef>
                <a:spcPts val="1200"/>
              </a:spcBef>
              <a:spcAft>
                <a:spcPts val="1200"/>
              </a:spcAft>
              <a:buSzPts val="523"/>
              <a:buNone/>
            </a:pPr>
            <a:r>
              <a:t/>
            </a:r>
            <a:endParaRPr sz="1455"/>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7"/>
          <p:cNvSpPr txBox="1"/>
          <p:nvPr>
            <p:ph idx="1" type="body"/>
          </p:nvPr>
        </p:nvSpPr>
        <p:spPr>
          <a:xfrm>
            <a:off x="0" y="0"/>
            <a:ext cx="8520600" cy="3861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en-GB" sz="1660"/>
              <a:t>Que 3: </a:t>
            </a:r>
            <a:r>
              <a:rPr lang="en-GB" sz="1660" u="sng">
                <a:solidFill>
                  <a:schemeClr val="hlink"/>
                </a:solidFill>
                <a:hlinkClick r:id="rId3"/>
              </a:rPr>
              <a:t>https://discord.com/channels/1104019359577428050/1120792097285480528/1121059713262551091</a:t>
            </a:r>
            <a:endParaRPr sz="1660"/>
          </a:p>
          <a:p>
            <a:pPr indent="0" lvl="0" marL="0" rtl="0" algn="l">
              <a:lnSpc>
                <a:spcPct val="95000"/>
              </a:lnSpc>
              <a:spcBef>
                <a:spcPts val="1200"/>
              </a:spcBef>
              <a:spcAft>
                <a:spcPts val="0"/>
              </a:spcAft>
              <a:buSzPts val="770"/>
              <a:buNone/>
            </a:pPr>
            <a:r>
              <a:t/>
            </a:r>
            <a:endParaRPr sz="1660"/>
          </a:p>
          <a:p>
            <a:pPr indent="0" lvl="0" marL="0" rtl="0" algn="l">
              <a:lnSpc>
                <a:spcPct val="95000"/>
              </a:lnSpc>
              <a:spcBef>
                <a:spcPts val="1200"/>
              </a:spcBef>
              <a:spcAft>
                <a:spcPts val="0"/>
              </a:spcAft>
              <a:buSzPts val="770"/>
              <a:buNone/>
            </a:pPr>
            <a:r>
              <a:rPr lang="en-GB" sz="1660"/>
              <a:t>Que 4: </a:t>
            </a:r>
            <a:r>
              <a:rPr lang="en-GB" sz="1660" u="sng">
                <a:solidFill>
                  <a:schemeClr val="hlink"/>
                </a:solidFill>
                <a:hlinkClick r:id="rId4"/>
              </a:rPr>
              <a:t>https://discord.com/channels/1104019359577428050/1120792134874828820/1121059743012749392</a:t>
            </a:r>
            <a:endParaRPr sz="1660"/>
          </a:p>
          <a:p>
            <a:pPr indent="0" lvl="0" marL="0" rtl="0" algn="l">
              <a:lnSpc>
                <a:spcPct val="95000"/>
              </a:lnSpc>
              <a:spcBef>
                <a:spcPts val="1200"/>
              </a:spcBef>
              <a:spcAft>
                <a:spcPts val="0"/>
              </a:spcAft>
              <a:buSzPts val="770"/>
              <a:buNone/>
            </a:pPr>
            <a:r>
              <a:rPr lang="en-GB" sz="1660"/>
              <a:t>Que6:</a:t>
            </a:r>
            <a:endParaRPr sz="1660"/>
          </a:p>
          <a:p>
            <a:pPr indent="0" lvl="0" marL="0" rtl="0" algn="l">
              <a:lnSpc>
                <a:spcPct val="95000"/>
              </a:lnSpc>
              <a:spcBef>
                <a:spcPts val="1200"/>
              </a:spcBef>
              <a:spcAft>
                <a:spcPts val="0"/>
              </a:spcAft>
              <a:buSzPts val="770"/>
              <a:buNone/>
            </a:pPr>
            <a:r>
              <a:rPr lang="en-GB" sz="1660" u="sng">
                <a:solidFill>
                  <a:schemeClr val="hlink"/>
                </a:solidFill>
                <a:hlinkClick r:id="rId5"/>
              </a:rPr>
              <a:t>https://discord.com/channels/1104019359577428050/1120792205762760744/1121059760268132352</a:t>
            </a:r>
            <a:endParaRPr sz="1660"/>
          </a:p>
          <a:p>
            <a:pPr indent="0" lvl="0" marL="0" rtl="0" algn="l">
              <a:lnSpc>
                <a:spcPct val="95000"/>
              </a:lnSpc>
              <a:spcBef>
                <a:spcPts val="1200"/>
              </a:spcBef>
              <a:spcAft>
                <a:spcPts val="0"/>
              </a:spcAft>
              <a:buSzPts val="770"/>
              <a:buNone/>
            </a:pPr>
            <a:r>
              <a:t/>
            </a:r>
            <a:endParaRPr sz="1660"/>
          </a:p>
          <a:p>
            <a:pPr indent="0" lvl="0" marL="0" rtl="0" algn="l">
              <a:lnSpc>
                <a:spcPct val="95000"/>
              </a:lnSpc>
              <a:spcBef>
                <a:spcPts val="1200"/>
              </a:spcBef>
              <a:spcAft>
                <a:spcPts val="0"/>
              </a:spcAft>
              <a:buSzPts val="770"/>
              <a:buNone/>
            </a:pPr>
            <a:r>
              <a:rPr lang="en-GB" sz="1660"/>
              <a:t>Que7:</a:t>
            </a:r>
            <a:endParaRPr sz="1660"/>
          </a:p>
          <a:p>
            <a:pPr indent="0" lvl="0" marL="0" rtl="0" algn="l">
              <a:lnSpc>
                <a:spcPct val="95000"/>
              </a:lnSpc>
              <a:spcBef>
                <a:spcPts val="1200"/>
              </a:spcBef>
              <a:spcAft>
                <a:spcPts val="0"/>
              </a:spcAft>
              <a:buSzPts val="770"/>
              <a:buNone/>
            </a:pPr>
            <a:r>
              <a:rPr lang="en-GB" sz="1660" u="sng">
                <a:solidFill>
                  <a:schemeClr val="hlink"/>
                </a:solidFill>
                <a:hlinkClick r:id="rId6"/>
              </a:rPr>
              <a:t>https://discord.com/channels/1104019359577428050/1120792252520861696/1121059787313000529</a:t>
            </a:r>
            <a:endParaRPr sz="1660"/>
          </a:p>
          <a:p>
            <a:pPr indent="0" lvl="0" marL="0" rtl="0" algn="l">
              <a:lnSpc>
                <a:spcPct val="95000"/>
              </a:lnSpc>
              <a:spcBef>
                <a:spcPts val="1200"/>
              </a:spcBef>
              <a:spcAft>
                <a:spcPts val="0"/>
              </a:spcAft>
              <a:buSzPts val="770"/>
              <a:buNone/>
            </a:pPr>
            <a:r>
              <a:t/>
            </a:r>
            <a:endParaRPr sz="1660"/>
          </a:p>
          <a:p>
            <a:pPr indent="0" lvl="0" marL="0" rtl="0" algn="l">
              <a:lnSpc>
                <a:spcPct val="95000"/>
              </a:lnSpc>
              <a:spcBef>
                <a:spcPts val="1200"/>
              </a:spcBef>
              <a:spcAft>
                <a:spcPts val="1200"/>
              </a:spcAft>
              <a:buSzPts val="770"/>
              <a:buNone/>
            </a:pPr>
            <a:r>
              <a:t/>
            </a:r>
            <a:endParaRPr sz="166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Solutions to contests:-	</a:t>
            </a:r>
            <a:endParaRPr/>
          </a:p>
        </p:txBody>
      </p:sp>
      <p:sp>
        <p:nvSpPr>
          <p:cNvPr id="216" name="Google Shape;216;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